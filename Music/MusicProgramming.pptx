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6" r:id="rId1"/>
  </p:sldMasterIdLst>
  <p:notesMasterIdLst>
    <p:notesMasterId r:id="rId31"/>
  </p:notesMasterIdLst>
  <p:sldIdLst>
    <p:sldId id="256" r:id="rId2"/>
    <p:sldId id="258" r:id="rId3"/>
    <p:sldId id="263" r:id="rId4"/>
    <p:sldId id="283" r:id="rId5"/>
    <p:sldId id="264" r:id="rId6"/>
    <p:sldId id="285" r:id="rId7"/>
    <p:sldId id="265" r:id="rId8"/>
    <p:sldId id="266" r:id="rId9"/>
    <p:sldId id="284" r:id="rId10"/>
    <p:sldId id="267" r:id="rId11"/>
    <p:sldId id="286" r:id="rId12"/>
    <p:sldId id="269" r:id="rId13"/>
    <p:sldId id="280" r:id="rId14"/>
    <p:sldId id="268" r:id="rId15"/>
    <p:sldId id="270" r:id="rId16"/>
    <p:sldId id="271" r:id="rId17"/>
    <p:sldId id="272" r:id="rId18"/>
    <p:sldId id="277" r:id="rId19"/>
    <p:sldId id="278" r:id="rId20"/>
    <p:sldId id="279" r:id="rId21"/>
    <p:sldId id="273" r:id="rId22"/>
    <p:sldId id="274" r:id="rId23"/>
    <p:sldId id="275" r:id="rId24"/>
    <p:sldId id="281" r:id="rId25"/>
    <p:sldId id="276" r:id="rId26"/>
    <p:sldId id="282" r:id="rId27"/>
    <p:sldId id="287" r:id="rId28"/>
    <p:sldId id="289" r:id="rId29"/>
    <p:sldId id="288" r:id="rId30"/>
  </p:sldIdLst>
  <p:sldSz cx="12192000" cy="6858000"/>
  <p:notesSz cx="6858000" cy="9144000"/>
  <p:embeddedFontLst>
    <p:embeddedFont>
      <p:font typeface="NSimSun" panose="02010609030101010101" pitchFamily="49" charset="-122"/>
      <p:regular r:id="rId32"/>
    </p:embeddedFont>
    <p:embeddedFont>
      <p:font typeface="Consolas" panose="020B0609020204030204" pitchFamily="49" charset="0"/>
      <p:regular r:id="rId33"/>
      <p:bold r:id="rId34"/>
      <p:italic r:id="rId35"/>
      <p:boldItalic r:id="rId3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270527"/>
    <a:srgbClr val="9040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60517" autoAdjust="0"/>
  </p:normalViewPr>
  <p:slideViewPr>
    <p:cSldViewPr snapToGrid="0">
      <p:cViewPr varScale="1">
        <p:scale>
          <a:sx n="62" d="100"/>
          <a:sy n="62" d="100"/>
        </p:scale>
        <p:origin x="1860" y="282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E2E1EC-3BFA-4FB0-B42A-CFD097A89C10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EA066E-DEBC-4178-A4EB-B6151E48A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600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A066E-DEBC-4178-A4EB-B6151E48A54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98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A066E-DEBC-4178-A4EB-B6151E48A54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5414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EA066E-DEBC-4178-A4EB-B6151E48A54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155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E97DB-B52B-4A58-80BE-26A5D65FBCA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8CE3A-5F2F-43AA-A799-D1D1D1FFB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304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>
        <p:sndAc>
          <p:stSnd>
            <p:snd r:embed="rId1" name="SlideChange.wav"/>
          </p:stSnd>
        </p:sndAc>
      </p:transition>
    </mc:Choice>
    <mc:Fallback xmlns="">
      <p:transition>
        <p:sndAc>
          <p:stSnd>
            <p:snd r:embed="rId3" name="SlideChange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E97DB-B52B-4A58-80BE-26A5D65FBCA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8CE3A-5F2F-43AA-A799-D1D1D1FFB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29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>
        <p:sndAc>
          <p:stSnd>
            <p:snd r:embed="rId1" name="SlideChange.wav"/>
          </p:stSnd>
        </p:sndAc>
      </p:transition>
    </mc:Choice>
    <mc:Fallback xmlns="">
      <p:transition>
        <p:sndAc>
          <p:stSnd>
            <p:snd r:embed="rId3" name="SlideChange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E97DB-B52B-4A58-80BE-26A5D65FBCA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8CE3A-5F2F-43AA-A799-D1D1D1FFB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533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>
        <p:sndAc>
          <p:stSnd>
            <p:snd r:embed="rId1" name="SlideChange.wav"/>
          </p:stSnd>
        </p:sndAc>
      </p:transition>
    </mc:Choice>
    <mc:Fallback xmlns="">
      <p:transition>
        <p:sndAc>
          <p:stSnd>
            <p:snd r:embed="rId3" name="SlideChange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E97DB-B52B-4A58-80BE-26A5D65FBCA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8CE3A-5F2F-43AA-A799-D1D1D1FFB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7900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>
        <p:sndAc>
          <p:stSnd>
            <p:snd r:embed="rId1" name="SlideChange.wav"/>
          </p:stSnd>
        </p:sndAc>
      </p:transition>
    </mc:Choice>
    <mc:Fallback xmlns="">
      <p:transition>
        <p:sndAc>
          <p:stSnd>
            <p:snd r:embed="rId3" name="SlideChange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E97DB-B52B-4A58-80BE-26A5D65FBCA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8CE3A-5F2F-43AA-A799-D1D1D1FFB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95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>
        <p:sndAc>
          <p:stSnd>
            <p:snd r:embed="rId1" name="SlideChange.wav"/>
          </p:stSnd>
        </p:sndAc>
      </p:transition>
    </mc:Choice>
    <mc:Fallback xmlns="">
      <p:transition>
        <p:sndAc>
          <p:stSnd>
            <p:snd r:embed="rId3" name="SlideChange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E97DB-B52B-4A58-80BE-26A5D65FBCA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8CE3A-5F2F-43AA-A799-D1D1D1FFB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860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>
        <p:sndAc>
          <p:stSnd>
            <p:snd r:embed="rId1" name="SlideChange.wav"/>
          </p:stSnd>
        </p:sndAc>
      </p:transition>
    </mc:Choice>
    <mc:Fallback xmlns="">
      <p:transition>
        <p:sndAc>
          <p:stSnd>
            <p:snd r:embed="rId3" name="SlideChange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E97DB-B52B-4A58-80BE-26A5D65FBCA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8CE3A-5F2F-43AA-A799-D1D1D1FFB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248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>
        <p:sndAc>
          <p:stSnd>
            <p:snd r:embed="rId1" name="SlideChange.wav"/>
          </p:stSnd>
        </p:sndAc>
      </p:transition>
    </mc:Choice>
    <mc:Fallback xmlns="">
      <p:transition>
        <p:sndAc>
          <p:stSnd>
            <p:snd r:embed="rId3" name="SlideChange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E97DB-B52B-4A58-80BE-26A5D65FBCA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8CE3A-5F2F-43AA-A799-D1D1D1FFB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05613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>
        <p:sndAc>
          <p:stSnd>
            <p:snd r:embed="rId1" name="SlideChange.wav"/>
          </p:stSnd>
        </p:sndAc>
      </p:transition>
    </mc:Choice>
    <mc:Fallback xmlns="">
      <p:transition>
        <p:sndAc>
          <p:stSnd>
            <p:snd r:embed="rId3" name="SlideChange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E97DB-B52B-4A58-80BE-26A5D65FBCA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8CE3A-5F2F-43AA-A799-D1D1D1FFB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955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>
        <p:sndAc>
          <p:stSnd>
            <p:snd r:embed="rId1" name="SlideChange.wav"/>
          </p:stSnd>
        </p:sndAc>
      </p:transition>
    </mc:Choice>
    <mc:Fallback xmlns="">
      <p:transition>
        <p:sndAc>
          <p:stSnd>
            <p:snd r:embed="rId3" name="SlideChange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E97DB-B52B-4A58-80BE-26A5D65FBCA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8CE3A-5F2F-43AA-A799-D1D1D1FFB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3629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>
        <p:sndAc>
          <p:stSnd>
            <p:snd r:embed="rId1" name="SlideChange.wav"/>
          </p:stSnd>
        </p:sndAc>
      </p:transition>
    </mc:Choice>
    <mc:Fallback xmlns="">
      <p:transition>
        <p:sndAc>
          <p:stSnd>
            <p:snd r:embed="rId3" name="SlideChange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EE97DB-B52B-4A58-80BE-26A5D65FBCA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08CE3A-5F2F-43AA-A799-D1D1D1FFB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968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>
        <p:sndAc>
          <p:stSnd>
            <p:snd r:embed="rId1" name="SlideChange.wav"/>
          </p:stSnd>
        </p:sndAc>
      </p:transition>
    </mc:Choice>
    <mc:Fallback xmlns="">
      <p:transition>
        <p:sndAc>
          <p:stSnd>
            <p:snd r:embed="rId3" name="SlideChange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EE97DB-B52B-4A58-80BE-26A5D65FBCA4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08CE3A-5F2F-43AA-A799-D1D1D1FFB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648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mc:AlternateContent xmlns:mc="http://schemas.openxmlformats.org/markup-compatibility/2006" xmlns:p14="http://schemas.microsoft.com/office/powerpoint/2010/main">
    <mc:Choice Requires="p14">
      <p:transition p14:dur="0">
        <p:sndAc>
          <p:stSnd>
            <p:snd r:embed="rId13" name="SlideChange.wav"/>
          </p:stSnd>
        </p:sndAc>
      </p:transition>
    </mc:Choice>
    <mc:Fallback xmlns="">
      <p:transition>
        <p:sndAc>
          <p:stSnd>
            <p:snd r:embed="rId14" name="SlideChange.wav"/>
          </p:stSnd>
        </p:sndAc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hort.hyland.com/piano" TargetMode="External"/><Relationship Id="rId5" Type="http://schemas.openxmlformats.org/officeDocument/2006/relationships/image" Target="../media/image3.gif"/><Relationship Id="rId4" Type="http://schemas.openxmlformats.org/officeDocument/2006/relationships/hyperlink" Target="https://labs.google/fx/tools/music-fx-dj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musiclab.chromeexperiments.com/Sound-Waves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signalgenerator.sciencemusic.org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hromatone.center/practice/pitch/table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musiclab.chromeexperiments.com/Harmonics/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fjvR9UMQCrg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nlinepianist.com/virtual-piano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musiclab.chromeexperiments.com/Arpeggios/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png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notesSlide" Target="../notesSlides/notesSlide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https://www.youtube.com/embed/NUg6NoDBk2M?feature=oembed" TargetMode="External"/><Relationship Id="rId1" Type="http://schemas.openxmlformats.org/officeDocument/2006/relationships/video" Target="https://www.youtube.com/embed/YFQm8Hk73ug?feature=oembed" TargetMode="Externa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ynthwave | Aesthetics Wiki | Fandom">
            <a:extLst>
              <a:ext uri="{FF2B5EF4-FFF2-40B4-BE49-F238E27FC236}">
                <a16:creationId xmlns:a16="http://schemas.microsoft.com/office/drawing/2014/main" id="{A437B21F-4538-4476-A4B8-D9F520FA2A0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43A4E6A6-3E16-403C-B893-A261B6D2BE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6438900"/>
            <a:ext cx="12192000" cy="419100"/>
          </a:xfrm>
        </p:spPr>
        <p:txBody>
          <a:bodyPr anchor="b">
            <a:normAutofit/>
          </a:bodyPr>
          <a:lstStyle/>
          <a:p>
            <a:r>
              <a:rPr lang="en-US" sz="1200" dirty="0"/>
              <a:t>MCCCC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D2025A5-37A6-4751-A96C-8565DE7FB7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" y="1666876"/>
            <a:ext cx="12001499" cy="1104899"/>
          </a:xfrm>
        </p:spPr>
        <p:txBody>
          <a:bodyPr>
            <a:normAutofit fontScale="90000"/>
          </a:bodyPr>
          <a:lstStyle/>
          <a:p>
            <a:pPr algn="l"/>
            <a:br>
              <a:rPr lang="en-US" sz="4400" dirty="0"/>
            </a:br>
            <a:r>
              <a:rPr lang="en-US" sz="6700" b="1" spc="900" dirty="0"/>
              <a:t>MUSIC</a:t>
            </a:r>
            <a:endParaRPr lang="en-US" sz="6700" b="1" spc="9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220589F-BE94-424C-A14A-5A3F232BC319}"/>
              </a:ext>
            </a:extLst>
          </p:cNvPr>
          <p:cNvSpPr txBox="1">
            <a:spLocks/>
          </p:cNvSpPr>
          <p:nvPr/>
        </p:nvSpPr>
        <p:spPr>
          <a:xfrm>
            <a:off x="-2" y="3924303"/>
            <a:ext cx="12001499" cy="904876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b="1" spc="900" dirty="0"/>
              <a:t>PROGRAMMING</a:t>
            </a:r>
            <a:endParaRPr lang="en-US" b="1" spc="900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6CC2E9-8007-4ACD-8988-FF5CD21F4953}"/>
              </a:ext>
            </a:extLst>
          </p:cNvPr>
          <p:cNvSpPr txBox="1"/>
          <p:nvPr/>
        </p:nvSpPr>
        <p:spPr>
          <a:xfrm>
            <a:off x="11071620" y="3716894"/>
            <a:ext cx="6834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800" spc="-100" dirty="0">
                <a:latin typeface="SimSun" panose="02010600030101010101" pitchFamily="2" charset="-122"/>
                <a:ea typeface="SimSun" panose="02010600030101010101" pitchFamily="2" charset="-122"/>
              </a:rPr>
              <a:t>with</a:t>
            </a:r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E98755-3C9F-4064-B906-D8B78A763C69}"/>
              </a:ext>
            </a:extLst>
          </p:cNvPr>
          <p:cNvSpPr txBox="1"/>
          <p:nvPr/>
        </p:nvSpPr>
        <p:spPr>
          <a:xfrm>
            <a:off x="323850" y="1607106"/>
            <a:ext cx="9048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0" dirty="0">
                <a:latin typeface="SimSun" panose="02010600030101010101" pitchFamily="2" charset="-122"/>
                <a:ea typeface="SimSun" panose="02010600030101010101" pitchFamily="2" charset="-122"/>
              </a:rPr>
              <a:t>making</a:t>
            </a:r>
            <a:endParaRPr lang="en-US" dirty="0">
              <a:latin typeface="SimSun" panose="02010600030101010101" pitchFamily="2" charset="-122"/>
              <a:ea typeface="SimSun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094400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0CD44042-B425-FA0F-F632-A568D19B1A33}"/>
              </a:ext>
            </a:extLst>
          </p:cNvPr>
          <p:cNvSpPr/>
          <p:nvPr/>
        </p:nvSpPr>
        <p:spPr>
          <a:xfrm>
            <a:off x="4936671" y="0"/>
            <a:ext cx="7255328" cy="6857999"/>
          </a:xfrm>
          <a:prstGeom prst="rect">
            <a:avLst/>
          </a:prstGeom>
          <a:solidFill>
            <a:schemeClr val="tx1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D4403A-E615-4C3A-9730-078E690A0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5"/>
            <a:ext cx="4936670" cy="1325563"/>
          </a:xfrm>
        </p:spPr>
        <p:txBody>
          <a:bodyPr/>
          <a:lstStyle/>
          <a:p>
            <a:pPr algn="ctr"/>
            <a:r>
              <a:rPr lang="en-US" dirty="0"/>
              <a:t>What Is </a:t>
            </a:r>
            <a:r>
              <a:rPr lang="en-US" b="1" dirty="0"/>
              <a:t>Music</a:t>
            </a:r>
            <a:r>
              <a:rPr lang="en-US" dirty="0"/>
              <a:t>?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3DE952-AD91-4ADD-B49B-2FED2E42D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75" y="1690688"/>
            <a:ext cx="3854119" cy="4486275"/>
          </a:xfrm>
          <a:prstGeom prst="rect">
            <a:avLst/>
          </a:prstGeom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8005EBBB-92E6-43C4-8D8E-6D901264D4D8}"/>
              </a:ext>
            </a:extLst>
          </p:cNvPr>
          <p:cNvSpPr txBox="1">
            <a:spLocks/>
          </p:cNvSpPr>
          <p:nvPr/>
        </p:nvSpPr>
        <p:spPr>
          <a:xfrm>
            <a:off x="0" y="6438900"/>
            <a:ext cx="12192000" cy="4191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dirty="0"/>
              <a:t>MCCCC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A789C1-A40C-DA9D-553E-60C6BA4830BC}"/>
              </a:ext>
            </a:extLst>
          </p:cNvPr>
          <p:cNvSpPr txBox="1"/>
          <p:nvPr/>
        </p:nvSpPr>
        <p:spPr>
          <a:xfrm>
            <a:off x="4936671" y="643185"/>
            <a:ext cx="725532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NSimSun"/>
                <a:ea typeface="+mj-ea"/>
                <a:cs typeface="+mj-cs"/>
              </a:rPr>
              <a:t>How can you make </a:t>
            </a:r>
            <a:r>
              <a:rPr lang="en-US" sz="4400" b="1" i="1" dirty="0">
                <a:solidFill>
                  <a:schemeClr val="accent1"/>
                </a:solidFill>
                <a:latin typeface="NSimSun"/>
                <a:ea typeface="+mj-ea"/>
                <a:cs typeface="+mj-cs"/>
              </a:rPr>
              <a:t>music</a:t>
            </a:r>
            <a:r>
              <a:rPr kumimoji="0" lang="en-US" sz="4400" b="1" i="1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NSimSun"/>
                <a:ea typeface="+mj-ea"/>
                <a:cs typeface="+mj-cs"/>
              </a:rPr>
              <a:t>?</a:t>
            </a:r>
            <a:endParaRPr lang="en-US" b="1" i="1" dirty="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5A6299-4208-C5D3-89EF-9B43450FFFF4}"/>
              </a:ext>
            </a:extLst>
          </p:cNvPr>
          <p:cNvSpPr txBox="1"/>
          <p:nvPr/>
        </p:nvSpPr>
        <p:spPr>
          <a:xfrm>
            <a:off x="4936669" y="1830407"/>
            <a:ext cx="432162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A.I. </a:t>
            </a:r>
            <a:r>
              <a:rPr lang="en-US" sz="2800" dirty="0">
                <a:hlinkClick r:id="rId4"/>
              </a:rPr>
              <a:t>https://labs.google/fx/tools/music-fx-dj</a:t>
            </a:r>
            <a:endParaRPr lang="en-US" sz="2800" dirty="0"/>
          </a:p>
        </p:txBody>
      </p:sp>
      <p:pic>
        <p:nvPicPr>
          <p:cNvPr id="1026" name="Picture 2" descr="Boo GIFs | Tenor">
            <a:extLst>
              <a:ext uri="{FF2B5EF4-FFF2-40B4-BE49-F238E27FC236}">
                <a16:creationId xmlns:a16="http://schemas.microsoft.com/office/drawing/2014/main" id="{196D4D2C-074C-3289-8620-A01AAE285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929" y="1545959"/>
            <a:ext cx="2095500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B2215E9-CF3A-ACF2-B226-317B4841AF5E}"/>
              </a:ext>
            </a:extLst>
          </p:cNvPr>
          <p:cNvSpPr txBox="1"/>
          <p:nvPr/>
        </p:nvSpPr>
        <p:spPr>
          <a:xfrm>
            <a:off x="4936669" y="4695549"/>
            <a:ext cx="4648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u="sng" dirty="0"/>
              <a:t>Actual Creativity</a:t>
            </a:r>
          </a:p>
          <a:p>
            <a:r>
              <a:rPr lang="en-US" sz="2800" dirty="0">
                <a:hlinkClick r:id="rId6"/>
              </a:rPr>
              <a:t>short.hyland.com/piano</a:t>
            </a:r>
            <a:endParaRPr lang="en-US" sz="2800" dirty="0"/>
          </a:p>
        </p:txBody>
      </p:sp>
      <p:pic>
        <p:nvPicPr>
          <p:cNvPr id="1028" name="Picture 4" descr="Spongebob Clap GIFs | Tenor">
            <a:extLst>
              <a:ext uri="{FF2B5EF4-FFF2-40B4-BE49-F238E27FC236}">
                <a16:creationId xmlns:a16="http://schemas.microsoft.com/office/drawing/2014/main" id="{17C42867-0977-5F79-9AE2-5E8A8D0881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34550" y="4585165"/>
            <a:ext cx="2095500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0461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9AA53EF-0DB6-525B-0491-34C8D591AD77}"/>
              </a:ext>
            </a:extLst>
          </p:cNvPr>
          <p:cNvSpPr txBox="1">
            <a:spLocks/>
          </p:cNvSpPr>
          <p:nvPr/>
        </p:nvSpPr>
        <p:spPr>
          <a:xfrm>
            <a:off x="1" y="0"/>
            <a:ext cx="1926770" cy="6858000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88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FF474-80F2-FE7F-9A3F-303FFD8B1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6771" y="0"/>
            <a:ext cx="10265228" cy="6858000"/>
          </a:xfrm>
          <a:solidFill>
            <a:schemeClr val="bg1"/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8800" dirty="0"/>
              <a:t>	1. SCIENCE</a:t>
            </a:r>
          </a:p>
          <a:p>
            <a:pPr marL="0" indent="0">
              <a:buNone/>
            </a:pPr>
            <a:r>
              <a:rPr lang="en-US" sz="8800" dirty="0"/>
              <a:t>	2. THEORY</a:t>
            </a:r>
          </a:p>
          <a:p>
            <a:pPr marL="0" indent="0">
              <a:buNone/>
            </a:pPr>
            <a:r>
              <a:rPr lang="en-US" sz="8800" dirty="0"/>
              <a:t>	3. PRODUCTION</a:t>
            </a:r>
          </a:p>
          <a:p>
            <a:pPr marL="0" indent="0">
              <a:buNone/>
            </a:pPr>
            <a:r>
              <a:rPr lang="en-US" sz="8800" dirty="0"/>
              <a:t>	4. STRUDEL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CBE049-8969-439D-646B-086540194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058886" y="2479220"/>
            <a:ext cx="7756073" cy="189955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19900" dirty="0">
                <a:solidFill>
                  <a:schemeClr val="bg1"/>
                </a:solidFill>
              </a:rPr>
              <a:t>AGENDA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44635C9-FE99-148D-162A-E70F9BFC94D5}"/>
              </a:ext>
            </a:extLst>
          </p:cNvPr>
          <p:cNvSpPr txBox="1">
            <a:spLocks/>
          </p:cNvSpPr>
          <p:nvPr/>
        </p:nvSpPr>
        <p:spPr>
          <a:xfrm>
            <a:off x="-6610351" y="1678441"/>
            <a:ext cx="7756073" cy="18995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dirty="0"/>
              <a:t>SCIENCE</a:t>
            </a:r>
          </a:p>
        </p:txBody>
      </p:sp>
    </p:spTree>
    <p:extLst>
      <p:ext uri="{BB962C8B-B14F-4D97-AF65-F5344CB8AC3E}">
        <p14:creationId xmlns:p14="http://schemas.microsoft.com/office/powerpoint/2010/main" val="1486067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4682241-293B-B81A-9603-0F6335FD25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0BC2833-C114-44EB-EA0F-FE6F941A20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097CBEC-ED42-A4B3-EEF6-236C7A7F3873}"/>
              </a:ext>
            </a:extLst>
          </p:cNvPr>
          <p:cNvSpPr txBox="1">
            <a:spLocks/>
          </p:cNvSpPr>
          <p:nvPr/>
        </p:nvSpPr>
        <p:spPr>
          <a:xfrm>
            <a:off x="2345871" y="2560184"/>
            <a:ext cx="7756073" cy="18995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900" dirty="0"/>
              <a:t>SCIENCE</a:t>
            </a:r>
          </a:p>
        </p:txBody>
      </p:sp>
    </p:spTree>
    <p:extLst>
      <p:ext uri="{BB962C8B-B14F-4D97-AF65-F5344CB8AC3E}">
        <p14:creationId xmlns:p14="http://schemas.microsoft.com/office/powerpoint/2010/main" val="14572008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A0422-4C73-8008-9569-36C10E224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2F9C6-44EF-1374-D5D9-0C8493B8A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058886" y="2479220"/>
            <a:ext cx="7756073" cy="1899558"/>
          </a:xfrm>
        </p:spPr>
        <p:txBody>
          <a:bodyPr>
            <a:noAutofit/>
          </a:bodyPr>
          <a:lstStyle/>
          <a:p>
            <a:pPr algn="ctr"/>
            <a:r>
              <a:rPr lang="en-US" sz="14900" dirty="0"/>
              <a:t>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C8AA60-01A1-7227-E0C6-A2A60D272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931" y="0"/>
            <a:ext cx="10423068" cy="6858000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</a:rPr>
              <a:t>	</a:t>
            </a:r>
            <a:endParaRPr lang="en-US" sz="4800" b="0" dirty="0">
              <a:solidFill>
                <a:schemeClr val="accent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4462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E33A4-BDA3-830B-B0DB-6B8F23270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D92AA-6152-2FA0-DBAA-9E4A805A8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058886" y="2479220"/>
            <a:ext cx="7756073" cy="1899558"/>
          </a:xfrm>
        </p:spPr>
        <p:txBody>
          <a:bodyPr>
            <a:noAutofit/>
          </a:bodyPr>
          <a:lstStyle/>
          <a:p>
            <a:pPr algn="ctr"/>
            <a:r>
              <a:rPr lang="en-US" sz="14900" dirty="0"/>
              <a:t>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EE3C5-43A0-FC05-15B0-85ECF8F03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931" y="0"/>
            <a:ext cx="10423068" cy="6858000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</a:rPr>
              <a:t>	Sound</a:t>
            </a:r>
            <a:r>
              <a:rPr lang="en-US" sz="8800" dirty="0">
                <a:solidFill>
                  <a:schemeClr val="bg1"/>
                </a:solidFill>
              </a:rPr>
              <a:t> is a </a:t>
            </a:r>
            <a:r>
              <a:rPr lang="en-US" sz="8800" b="1" dirty="0">
                <a:solidFill>
                  <a:schemeClr val="bg1"/>
                </a:solidFill>
              </a:rPr>
              <a:t>wave</a:t>
            </a:r>
          </a:p>
          <a:p>
            <a:pPr>
              <a:lnSpc>
                <a:spcPts val="1425"/>
              </a:lnSpc>
              <a:buNone/>
            </a:pPr>
            <a:r>
              <a:rPr lang="en-US" sz="48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https://musiclab.chromeexperiments.com/Sound-Waves/</a:t>
            </a:r>
            <a:endParaRPr lang="en-US" sz="4800" b="0" dirty="0">
              <a:solidFill>
                <a:schemeClr val="accent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022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02983-F9F7-C4EE-0544-567957857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0D1685-16CD-5143-3036-E0B2D40E7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058886" y="2479220"/>
            <a:ext cx="7756073" cy="1899558"/>
          </a:xfrm>
        </p:spPr>
        <p:txBody>
          <a:bodyPr>
            <a:noAutofit/>
          </a:bodyPr>
          <a:lstStyle/>
          <a:p>
            <a:pPr algn="ctr"/>
            <a:r>
              <a:rPr lang="en-US" sz="14900" dirty="0"/>
              <a:t>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D8F83-2162-1C4F-55B0-70615681B8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931" y="0"/>
            <a:ext cx="10423068" cy="6858000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</a:rPr>
              <a:t>	Faster waves</a:t>
            </a:r>
            <a:r>
              <a:rPr lang="en-US" sz="8800" dirty="0">
                <a:solidFill>
                  <a:schemeClr val="bg1"/>
                </a:solidFill>
              </a:rPr>
              <a:t> 	make </a:t>
            </a:r>
            <a:r>
              <a:rPr lang="en-US" sz="8800" b="1" dirty="0">
                <a:solidFill>
                  <a:schemeClr val="bg1"/>
                </a:solidFill>
              </a:rPr>
              <a:t>higher</a:t>
            </a:r>
            <a:r>
              <a:rPr lang="en-US" sz="8800" dirty="0">
                <a:solidFill>
                  <a:schemeClr val="bg1"/>
                </a:solidFill>
              </a:rPr>
              <a:t> 	</a:t>
            </a:r>
            <a:r>
              <a:rPr lang="en-US" sz="8800" b="1" dirty="0">
                <a:solidFill>
                  <a:schemeClr val="bg1"/>
                </a:solidFill>
              </a:rPr>
              <a:t>pitches</a:t>
            </a:r>
          </a:p>
          <a:p>
            <a:pPr>
              <a:lnSpc>
                <a:spcPts val="1425"/>
              </a:lnSpc>
              <a:buNone/>
            </a:pPr>
            <a:r>
              <a:rPr lang="en-US" sz="48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https://signalgenerator.sciencemusic.org/</a:t>
            </a:r>
            <a:endParaRPr lang="en-US" sz="4800" b="0" dirty="0">
              <a:solidFill>
                <a:schemeClr val="accent1"/>
              </a:solidFill>
              <a:effectLst/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sz="6600" b="0" dirty="0">
              <a:solidFill>
                <a:schemeClr val="accent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7211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2964A-4371-6EF9-D52C-B101C0D43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5353E-EF85-F000-877A-8FA62E3B4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058886" y="2479220"/>
            <a:ext cx="7756073" cy="1899558"/>
          </a:xfrm>
        </p:spPr>
        <p:txBody>
          <a:bodyPr>
            <a:noAutofit/>
          </a:bodyPr>
          <a:lstStyle/>
          <a:p>
            <a:pPr algn="ctr"/>
            <a:r>
              <a:rPr lang="en-US" sz="14900" dirty="0"/>
              <a:t>SCIENCE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68A63-4FDB-290F-62A4-7ED080AFC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931" y="0"/>
            <a:ext cx="10423068" cy="6858000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</a:rPr>
              <a:t>	</a:t>
            </a:r>
            <a:r>
              <a:rPr lang="en-US" sz="8800" dirty="0">
                <a:solidFill>
                  <a:schemeClr val="bg1"/>
                </a:solidFill>
              </a:rPr>
              <a:t>Some </a:t>
            </a:r>
            <a:r>
              <a:rPr lang="en-US" sz="8800" b="1" dirty="0">
                <a:solidFill>
                  <a:schemeClr val="bg1"/>
                </a:solidFill>
              </a:rPr>
              <a:t>pitches</a:t>
            </a:r>
            <a:r>
              <a:rPr lang="en-US" sz="8800" dirty="0">
                <a:solidFill>
                  <a:schemeClr val="bg1"/>
                </a:solidFill>
              </a:rPr>
              <a:t> 	include A2, 	B#5, Cb4, F#7</a:t>
            </a:r>
            <a:endParaRPr lang="en-US" sz="8800" b="1" dirty="0">
              <a:solidFill>
                <a:schemeClr val="bg1"/>
              </a:solidFill>
            </a:endParaRPr>
          </a:p>
          <a:p>
            <a:pPr>
              <a:lnSpc>
                <a:spcPts val="1425"/>
              </a:lnSpc>
              <a:buNone/>
            </a:pPr>
            <a:r>
              <a:rPr lang="en-US" sz="48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https://chromatone.center/practice/pitch/table/</a:t>
            </a:r>
            <a:endParaRPr lang="en-US" sz="4800" b="0" dirty="0">
              <a:solidFill>
                <a:schemeClr val="accent1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endParaRPr lang="en-US" sz="4800" b="0" dirty="0">
              <a:solidFill>
                <a:schemeClr val="bg2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US" sz="4000" dirty="0">
                <a:solidFill>
                  <a:schemeClr val="bg2"/>
                </a:solidFill>
                <a:latin typeface="Consolas" panose="020B0609020204030204" pitchFamily="49" charset="0"/>
              </a:rPr>
              <a:t>Each </a:t>
            </a:r>
            <a:r>
              <a:rPr lang="en-US" sz="4000" b="1" dirty="0">
                <a:solidFill>
                  <a:schemeClr val="bg2"/>
                </a:solidFill>
                <a:latin typeface="Consolas" panose="020B0609020204030204" pitchFamily="49" charset="0"/>
              </a:rPr>
              <a:t>pitch</a:t>
            </a:r>
            <a:r>
              <a:rPr lang="en-US" sz="4000" dirty="0">
                <a:solidFill>
                  <a:schemeClr val="bg2"/>
                </a:solidFill>
                <a:latin typeface="Consolas" panose="020B0609020204030204" pitchFamily="49" charset="0"/>
              </a:rPr>
              <a:t> has a corresponding	</a:t>
            </a:r>
            <a:r>
              <a:rPr lang="en-US" sz="4000" b="1" dirty="0">
                <a:solidFill>
                  <a:schemeClr val="bg2"/>
                </a:solidFill>
                <a:latin typeface="Consolas" panose="020B0609020204030204" pitchFamily="49" charset="0"/>
              </a:rPr>
              <a:t>frequency</a:t>
            </a:r>
            <a:r>
              <a:rPr lang="en-US" sz="4000" dirty="0">
                <a:solidFill>
                  <a:schemeClr val="bg2"/>
                </a:solidFill>
                <a:latin typeface="Consolas" panose="020B0609020204030204" pitchFamily="49" charset="0"/>
              </a:rPr>
              <a:t>, measured in </a:t>
            </a:r>
            <a:r>
              <a:rPr lang="en-US" sz="4000" b="1" dirty="0">
                <a:solidFill>
                  <a:schemeClr val="bg2"/>
                </a:solidFill>
                <a:latin typeface="Consolas" panose="020B0609020204030204" pitchFamily="49" charset="0"/>
              </a:rPr>
              <a:t>Hertz</a:t>
            </a:r>
            <a:r>
              <a:rPr lang="en-US" sz="4000" dirty="0">
                <a:solidFill>
                  <a:schemeClr val="bg2"/>
                </a:solidFill>
                <a:latin typeface="Consolas" panose="020B0609020204030204" pitchFamily="49" charset="0"/>
              </a:rPr>
              <a:t> (</a:t>
            </a:r>
            <a:r>
              <a:rPr lang="en-US" sz="4000" b="1" dirty="0">
                <a:solidFill>
                  <a:schemeClr val="bg2"/>
                </a:solidFill>
                <a:latin typeface="Consolas" panose="020B0609020204030204" pitchFamily="49" charset="0"/>
              </a:rPr>
              <a:t>Hz</a:t>
            </a:r>
            <a:r>
              <a:rPr lang="en-US" sz="4000" dirty="0">
                <a:solidFill>
                  <a:schemeClr val="bg2"/>
                </a:solidFill>
                <a:latin typeface="Consolas" panose="020B0609020204030204" pitchFamily="49" charset="0"/>
              </a:rPr>
              <a:t>)</a:t>
            </a:r>
            <a:endParaRPr lang="en-US" sz="4000" b="0" dirty="0">
              <a:solidFill>
                <a:schemeClr val="bg2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E254719-6A3F-0A52-356A-CD8D3B43DC93}"/>
              </a:ext>
            </a:extLst>
          </p:cNvPr>
          <p:cNvSpPr txBox="1">
            <a:spLocks/>
          </p:cNvSpPr>
          <p:nvPr/>
        </p:nvSpPr>
        <p:spPr>
          <a:xfrm>
            <a:off x="11933463" y="3174773"/>
            <a:ext cx="7756073" cy="18995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900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1624743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8ED850-6549-E006-E940-5F2514B64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836AE04-DB41-DAC7-1F73-CEB3350D09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17FD56A-7CC9-6A12-7F20-1464E2C859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5485ED-3B6A-55D2-960B-7D33BE88EA0A}"/>
              </a:ext>
            </a:extLst>
          </p:cNvPr>
          <p:cNvSpPr txBox="1">
            <a:spLocks/>
          </p:cNvSpPr>
          <p:nvPr/>
        </p:nvSpPr>
        <p:spPr>
          <a:xfrm>
            <a:off x="2217963" y="2652259"/>
            <a:ext cx="7756073" cy="18995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900" dirty="0"/>
              <a:t>THEORY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F6E8990-E72B-6387-37DF-E1B39A945FCA}"/>
              </a:ext>
            </a:extLst>
          </p:cNvPr>
          <p:cNvSpPr txBox="1">
            <a:spLocks/>
          </p:cNvSpPr>
          <p:nvPr/>
        </p:nvSpPr>
        <p:spPr>
          <a:xfrm rot="16200000">
            <a:off x="-4827816" y="2560185"/>
            <a:ext cx="7756073" cy="18995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900"/>
              <a:t>SCIENCE</a:t>
            </a:r>
            <a:endParaRPr lang="en-US" sz="14900" dirty="0"/>
          </a:p>
        </p:txBody>
      </p:sp>
    </p:spTree>
    <p:extLst>
      <p:ext uri="{BB962C8B-B14F-4D97-AF65-F5344CB8AC3E}">
        <p14:creationId xmlns:p14="http://schemas.microsoft.com/office/powerpoint/2010/main" val="337561370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085A1-ACF8-C5D6-AFEC-19E2CB805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FE4E8-A134-A07B-4A5E-C24D1BF87E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931" y="0"/>
            <a:ext cx="10423068" cy="6858000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</a:rPr>
              <a:t>	</a:t>
            </a:r>
            <a:endParaRPr lang="en-US" sz="6000" b="0" dirty="0">
              <a:solidFill>
                <a:schemeClr val="accent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99C326-0924-3460-A75E-0C3DEF6C3D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CB2001F-8066-3958-5296-75EFC8F8398D}"/>
              </a:ext>
            </a:extLst>
          </p:cNvPr>
          <p:cNvSpPr txBox="1">
            <a:spLocks/>
          </p:cNvSpPr>
          <p:nvPr/>
        </p:nvSpPr>
        <p:spPr>
          <a:xfrm rot="16200000">
            <a:off x="-2928257" y="2619602"/>
            <a:ext cx="7756073" cy="18995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900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243298591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65D58-7992-9FB4-A362-161232E9C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8B322-300D-711D-B294-1300F5F279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931" y="0"/>
            <a:ext cx="10423068" cy="6858000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</a:rPr>
              <a:t>	</a:t>
            </a:r>
            <a:r>
              <a:rPr lang="en-US" sz="8800" dirty="0">
                <a:solidFill>
                  <a:schemeClr val="bg1"/>
                </a:solidFill>
              </a:rPr>
              <a:t>Some </a:t>
            </a:r>
            <a:r>
              <a:rPr lang="en-US" sz="8800" b="1" dirty="0">
                <a:solidFill>
                  <a:schemeClr val="bg1"/>
                </a:solidFill>
              </a:rPr>
              <a:t>pitches</a:t>
            </a:r>
            <a:r>
              <a:rPr lang="en-US" sz="8800" dirty="0">
                <a:solidFill>
                  <a:schemeClr val="bg1"/>
                </a:solidFill>
              </a:rPr>
              <a:t> 	sound “good” 	together</a:t>
            </a:r>
          </a:p>
          <a:p>
            <a:pPr>
              <a:lnSpc>
                <a:spcPts val="1425"/>
              </a:lnSpc>
              <a:buNone/>
            </a:pPr>
            <a:r>
              <a:rPr lang="en-US" sz="48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https://musiclab.chromeexperiments</a:t>
            </a:r>
            <a:r>
              <a:rPr lang="en-US" sz="60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.com/Harmonics/</a:t>
            </a:r>
            <a:endParaRPr lang="en-US" sz="6000" b="0" dirty="0">
              <a:solidFill>
                <a:schemeClr val="accent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AB34068-6730-6884-7D41-6406B13F3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A4A6EED-E0BF-4B5D-1355-BD010E458B06}"/>
              </a:ext>
            </a:extLst>
          </p:cNvPr>
          <p:cNvSpPr txBox="1">
            <a:spLocks/>
          </p:cNvSpPr>
          <p:nvPr/>
        </p:nvSpPr>
        <p:spPr>
          <a:xfrm rot="16200000">
            <a:off x="-2928257" y="2619602"/>
            <a:ext cx="7756073" cy="189955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900" dirty="0"/>
              <a:t>THEORY</a:t>
            </a:r>
          </a:p>
        </p:txBody>
      </p:sp>
    </p:spTree>
    <p:extLst>
      <p:ext uri="{BB962C8B-B14F-4D97-AF65-F5344CB8AC3E}">
        <p14:creationId xmlns:p14="http://schemas.microsoft.com/office/powerpoint/2010/main" val="41476366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ED078-793D-5BE8-67AE-D6863F6EC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44C8F-CF65-F233-7D71-A7FD4C1B1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058886" y="2479220"/>
            <a:ext cx="7756073" cy="1899558"/>
          </a:xfrm>
        </p:spPr>
        <p:txBody>
          <a:bodyPr>
            <a:noAutofit/>
          </a:bodyPr>
          <a:lstStyle/>
          <a:p>
            <a:pPr algn="ctr"/>
            <a:r>
              <a:rPr lang="en-US" sz="14900" dirty="0"/>
              <a:t>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1A963-94A6-2220-5D4C-1E105A5E9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931" y="0"/>
            <a:ext cx="10423068" cy="6858000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</a:rPr>
              <a:t>	</a:t>
            </a:r>
            <a:r>
              <a:rPr lang="en-US" sz="8800" dirty="0">
                <a:solidFill>
                  <a:schemeClr val="bg1"/>
                </a:solidFill>
              </a:rPr>
              <a:t>You know music theory already even if you don’t know you know it </a:t>
            </a:r>
            <a:r>
              <a:rPr lang="en-US" sz="1600" dirty="0">
                <a:solidFill>
                  <a:schemeClr val="accent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https://www.youtube.com/watch?v=fjvR9UMQCrg</a:t>
            </a:r>
            <a:endParaRPr lang="en-US" sz="6000" b="0" dirty="0">
              <a:solidFill>
                <a:schemeClr val="accent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68276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7C4527-2176-99C5-2D65-A91937A9F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96540-02FC-DA76-5392-33BC6827C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058886" y="2479220"/>
            <a:ext cx="7756073" cy="1899558"/>
          </a:xfrm>
        </p:spPr>
        <p:txBody>
          <a:bodyPr>
            <a:noAutofit/>
          </a:bodyPr>
          <a:lstStyle/>
          <a:p>
            <a:pPr algn="ctr"/>
            <a:r>
              <a:rPr lang="en-US" sz="14900" dirty="0"/>
              <a:t>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CEB3D-92DD-82C4-18B9-1461EEF33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931" y="0"/>
            <a:ext cx="10423068" cy="6858000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</a:rPr>
              <a:t>	</a:t>
            </a:r>
            <a:r>
              <a:rPr lang="en-US" sz="8800" b="1" dirty="0">
                <a:solidFill>
                  <a:schemeClr val="bg1"/>
                </a:solidFill>
                <a:hlinkClick r:id="rId2"/>
              </a:rPr>
              <a:t>https://www.onlinepianist.com/virtual-piano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4318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E65C3-8A2D-A370-2203-C0777E04D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990EA-B944-1858-868A-7085684DF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058886" y="2479220"/>
            <a:ext cx="7756073" cy="1899558"/>
          </a:xfrm>
        </p:spPr>
        <p:txBody>
          <a:bodyPr>
            <a:noAutofit/>
          </a:bodyPr>
          <a:lstStyle/>
          <a:p>
            <a:pPr algn="ctr"/>
            <a:r>
              <a:rPr lang="en-US" sz="14900" dirty="0"/>
              <a:t>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C5F65-F039-A1D7-BE37-DA1A24E84E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931" y="0"/>
            <a:ext cx="10423068" cy="6858000"/>
          </a:xfrm>
          <a:solidFill>
            <a:schemeClr val="tx1"/>
          </a:solidFill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</a:rPr>
              <a:t>	</a:t>
            </a:r>
            <a:r>
              <a:rPr lang="en-US" sz="8800" dirty="0">
                <a:solidFill>
                  <a:schemeClr val="bg1"/>
                </a:solidFill>
              </a:rPr>
              <a:t>An </a:t>
            </a:r>
            <a:r>
              <a:rPr lang="en-US" sz="8800" b="1" dirty="0">
                <a:solidFill>
                  <a:schemeClr val="bg1"/>
                </a:solidFill>
              </a:rPr>
              <a:t>octave</a:t>
            </a:r>
            <a:r>
              <a:rPr lang="en-US" sz="8800" dirty="0">
                <a:solidFill>
                  <a:schemeClr val="bg1"/>
                </a:solidFill>
              </a:rPr>
              <a:t> is 	half or double 	a frequency, 	e.g., A3 and A4</a:t>
            </a:r>
          </a:p>
          <a:p>
            <a:pPr marL="0" indent="0">
              <a:buNone/>
            </a:pPr>
            <a:endParaRPr lang="en-US" sz="52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4000" dirty="0">
                <a:solidFill>
                  <a:schemeClr val="bg1"/>
                </a:solidFill>
              </a:rPr>
              <a:t>Octaves are sometimes called the 	“basic miracle of music”</a:t>
            </a:r>
          </a:p>
        </p:txBody>
      </p:sp>
    </p:spTree>
    <p:extLst>
      <p:ext uri="{BB962C8B-B14F-4D97-AF65-F5344CB8AC3E}">
        <p14:creationId xmlns:p14="http://schemas.microsoft.com/office/powerpoint/2010/main" val="1192361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1BA07-65B0-E3A5-D480-2AB9AD00E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95005-D987-3275-F125-6F6D95441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058886" y="2479220"/>
            <a:ext cx="7756073" cy="1899558"/>
          </a:xfrm>
        </p:spPr>
        <p:txBody>
          <a:bodyPr>
            <a:noAutofit/>
          </a:bodyPr>
          <a:lstStyle/>
          <a:p>
            <a:pPr algn="ctr"/>
            <a:r>
              <a:rPr lang="en-US" sz="14900" dirty="0"/>
              <a:t>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CBD5A3-98FE-A6DA-8321-CBAAC4E8A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931" y="0"/>
            <a:ext cx="10423068" cy="6858000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</a:rPr>
              <a:t>	Tempo </a:t>
            </a:r>
            <a:r>
              <a:rPr lang="en-US" sz="8800" dirty="0">
                <a:solidFill>
                  <a:schemeClr val="bg1"/>
                </a:solidFill>
              </a:rPr>
              <a:t>= Speed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9824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63352-6B0F-FED3-8A35-1C88166B0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8D63B-3DBE-D51F-D597-121F253F4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058886" y="2479220"/>
            <a:ext cx="7756073" cy="1899558"/>
          </a:xfrm>
        </p:spPr>
        <p:txBody>
          <a:bodyPr>
            <a:noAutofit/>
          </a:bodyPr>
          <a:lstStyle/>
          <a:p>
            <a:pPr algn="ctr"/>
            <a:r>
              <a:rPr lang="en-US" sz="14900" dirty="0"/>
              <a:t>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3D9CE-6438-E968-BE11-81482106B1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931" y="0"/>
            <a:ext cx="10423068" cy="6858000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</a:rPr>
              <a:t>	Note </a:t>
            </a:r>
            <a:r>
              <a:rPr lang="en-US" sz="8800" dirty="0">
                <a:solidFill>
                  <a:schemeClr val="bg1"/>
                </a:solidFill>
              </a:rPr>
              <a:t>=</a:t>
            </a:r>
          </a:p>
          <a:p>
            <a:pPr marL="0" indent="0">
              <a:buNone/>
            </a:pPr>
            <a:r>
              <a:rPr lang="en-US" sz="8800" dirty="0">
                <a:solidFill>
                  <a:schemeClr val="bg1"/>
                </a:solidFill>
              </a:rPr>
              <a:t>		Pitch + Time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3774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9392D-5AD2-4050-F144-AF4D6EB4F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249C3-D6E2-EA24-A941-601CD5BCE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058886" y="2479220"/>
            <a:ext cx="7756073" cy="1899558"/>
          </a:xfrm>
        </p:spPr>
        <p:txBody>
          <a:bodyPr>
            <a:noAutofit/>
          </a:bodyPr>
          <a:lstStyle/>
          <a:p>
            <a:pPr algn="ctr"/>
            <a:r>
              <a:rPr lang="en-US" sz="14900" dirty="0"/>
              <a:t>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4105B-A7D0-88B5-5437-2FF835CFAA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931" y="0"/>
            <a:ext cx="10423068" cy="6858000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</a:rPr>
              <a:t>	Interval </a:t>
            </a:r>
            <a:r>
              <a:rPr lang="en-US" sz="8800" dirty="0">
                <a:solidFill>
                  <a:schemeClr val="bg1"/>
                </a:solidFill>
              </a:rPr>
              <a:t>=</a:t>
            </a:r>
          </a:p>
          <a:p>
            <a:pPr marL="0" indent="0">
              <a:buNone/>
            </a:pPr>
            <a:r>
              <a:rPr lang="en-US" sz="8800" dirty="0">
                <a:solidFill>
                  <a:schemeClr val="bg1"/>
                </a:solidFill>
              </a:rPr>
              <a:t>		Space between 			pitches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6501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4583F-3E9B-DD04-D030-31FBA9178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C73AA-8345-A2FE-8F10-5D1ADA1F2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058886" y="2479220"/>
            <a:ext cx="7756073" cy="1899558"/>
          </a:xfrm>
        </p:spPr>
        <p:txBody>
          <a:bodyPr>
            <a:noAutofit/>
          </a:bodyPr>
          <a:lstStyle/>
          <a:p>
            <a:pPr algn="ctr"/>
            <a:r>
              <a:rPr lang="en-US" sz="14900" dirty="0"/>
              <a:t>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A7C94D-DF98-2471-9976-7B8379EE0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931" y="0"/>
            <a:ext cx="10423068" cy="6858000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</a:rPr>
              <a:t>	Scale </a:t>
            </a:r>
            <a:r>
              <a:rPr lang="en-US" sz="8800" dirty="0">
                <a:solidFill>
                  <a:schemeClr val="bg1"/>
                </a:solidFill>
              </a:rPr>
              <a:t>=</a:t>
            </a:r>
          </a:p>
          <a:p>
            <a:pPr marL="0" indent="0">
              <a:buNone/>
            </a:pPr>
            <a:r>
              <a:rPr lang="en-US" sz="8800" dirty="0">
                <a:solidFill>
                  <a:schemeClr val="bg1"/>
                </a:solidFill>
              </a:rPr>
              <a:t>		Series of 						notes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99256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F727E-7B64-5D3A-6836-3866DE9A3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03688-1D4A-45D8-ACA6-B5CE4A5E8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058886" y="2479220"/>
            <a:ext cx="7756073" cy="1899558"/>
          </a:xfrm>
        </p:spPr>
        <p:txBody>
          <a:bodyPr>
            <a:noAutofit/>
          </a:bodyPr>
          <a:lstStyle/>
          <a:p>
            <a:pPr algn="ctr"/>
            <a:r>
              <a:rPr lang="en-US" sz="14900" dirty="0"/>
              <a:t>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DA486-0FEC-93A2-1F26-64022515F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931" y="0"/>
            <a:ext cx="10423068" cy="6858000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</a:rPr>
              <a:t>	Major Scale </a:t>
            </a:r>
            <a:r>
              <a:rPr lang="en-US" sz="8800" dirty="0">
                <a:solidFill>
                  <a:schemeClr val="bg1"/>
                </a:solidFill>
              </a:rPr>
              <a:t>=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  <a:endParaRPr lang="en-US" sz="8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40264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AB9A4-5489-E1EA-A905-AE459BFFD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49B27-A37C-4EF4-B818-8288C78D1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058886" y="2479220"/>
            <a:ext cx="7756073" cy="1899558"/>
          </a:xfrm>
        </p:spPr>
        <p:txBody>
          <a:bodyPr>
            <a:noAutofit/>
          </a:bodyPr>
          <a:lstStyle/>
          <a:p>
            <a:pPr algn="ctr"/>
            <a:r>
              <a:rPr lang="en-US" sz="14900" dirty="0"/>
              <a:t>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4D0D0-5528-61C0-F7E6-F66A5C746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931" y="0"/>
            <a:ext cx="10423068" cy="6858000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</a:rPr>
              <a:t>	Minor Scale </a:t>
            </a:r>
            <a:r>
              <a:rPr lang="en-US" sz="8800" dirty="0">
                <a:solidFill>
                  <a:schemeClr val="bg1"/>
                </a:solidFill>
              </a:rPr>
              <a:t>=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>
                <a:solidFill>
                  <a:schemeClr val="bg1"/>
                </a:solidFill>
                <a:sym typeface="Wingdings" panose="05000000000000000000" pitchFamily="2" charset="2"/>
              </a:rPr>
              <a:t></a:t>
            </a:r>
            <a:endParaRPr lang="en-US" sz="8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96702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17BBF-0089-7738-20C7-FE2DAADE8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85573-8E89-55D1-6816-917641726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058886" y="2479220"/>
            <a:ext cx="7756073" cy="1899558"/>
          </a:xfrm>
        </p:spPr>
        <p:txBody>
          <a:bodyPr>
            <a:noAutofit/>
          </a:bodyPr>
          <a:lstStyle/>
          <a:p>
            <a:pPr algn="ctr"/>
            <a:r>
              <a:rPr lang="en-US" sz="14900" dirty="0"/>
              <a:t>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381AA-5DDF-0F29-135E-82FD5345C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931" y="0"/>
            <a:ext cx="10423068" cy="6858000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</a:rPr>
              <a:t>	Chords </a:t>
            </a:r>
            <a:r>
              <a:rPr lang="en-US" sz="8800" dirty="0">
                <a:solidFill>
                  <a:schemeClr val="bg1"/>
                </a:solidFill>
              </a:rPr>
              <a:t>=</a:t>
            </a:r>
          </a:p>
          <a:p>
            <a:pPr marL="0" indent="0">
              <a:buNone/>
            </a:pPr>
            <a:r>
              <a:rPr lang="en-US" sz="8800" dirty="0">
                <a:solidFill>
                  <a:schemeClr val="bg1"/>
                </a:solidFill>
              </a:rPr>
              <a:t>		Multiple 				pitches grouped together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93613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72C21C-68CF-71BA-FF26-95CB6B2E6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40501-D9FE-75A1-B6B4-79CACAD79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058886" y="2479220"/>
            <a:ext cx="7756073" cy="1899558"/>
          </a:xfrm>
        </p:spPr>
        <p:txBody>
          <a:bodyPr>
            <a:noAutofit/>
          </a:bodyPr>
          <a:lstStyle/>
          <a:p>
            <a:pPr algn="ctr"/>
            <a:r>
              <a:rPr lang="en-US" sz="14900" dirty="0"/>
              <a:t>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429F3-7E47-B5F0-1272-96CA83083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931" y="0"/>
            <a:ext cx="10423068" cy="6858000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</a:rPr>
              <a:t>	Major Chord </a:t>
            </a:r>
            <a:r>
              <a:rPr lang="en-US" sz="8800" dirty="0">
                <a:solidFill>
                  <a:schemeClr val="bg1"/>
                </a:solidFill>
              </a:rPr>
              <a:t>=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>
                <a:solidFill>
                  <a:schemeClr val="bg1"/>
                </a:solidFill>
                <a:sym typeface="Wingdings" panose="05000000000000000000" pitchFamily="2" charset="2"/>
              </a:rPr>
              <a:t></a:t>
            </a:r>
            <a:endParaRPr lang="en-US" sz="8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41025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595EB-B5AC-A70C-D88C-5A91B37E6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CF177-7BE4-5360-91F0-00C9506E0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058886" y="2479220"/>
            <a:ext cx="7756073" cy="1899558"/>
          </a:xfrm>
        </p:spPr>
        <p:txBody>
          <a:bodyPr>
            <a:noAutofit/>
          </a:bodyPr>
          <a:lstStyle/>
          <a:p>
            <a:pPr algn="ctr"/>
            <a:r>
              <a:rPr lang="en-US" sz="14900" dirty="0"/>
              <a:t>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F8838-7984-53A8-9953-33E50B898A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931" y="0"/>
            <a:ext cx="10423068" cy="6858000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</a:rPr>
              <a:t>	Minor Chord </a:t>
            </a:r>
            <a:r>
              <a:rPr lang="en-US" sz="8800" dirty="0">
                <a:solidFill>
                  <a:schemeClr val="bg1"/>
                </a:solidFill>
              </a:rPr>
              <a:t>=</a:t>
            </a:r>
            <a:r>
              <a:rPr lang="en-US" sz="4000" dirty="0">
                <a:solidFill>
                  <a:schemeClr val="bg1"/>
                </a:solidFill>
              </a:rPr>
              <a:t> </a:t>
            </a:r>
            <a:r>
              <a:rPr lang="en-US" sz="4000" dirty="0">
                <a:solidFill>
                  <a:schemeClr val="bg1"/>
                </a:solidFill>
                <a:sym typeface="Wingdings" panose="05000000000000000000" pitchFamily="2" charset="2"/>
              </a:rPr>
              <a:t></a:t>
            </a:r>
            <a:endParaRPr lang="en-US" sz="8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41727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E310B-198E-DC2B-7740-00FB21A7C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7308F-5190-718F-4D7F-A557DF5BA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058886" y="2479220"/>
            <a:ext cx="7756073" cy="1899558"/>
          </a:xfrm>
        </p:spPr>
        <p:txBody>
          <a:bodyPr>
            <a:noAutofit/>
          </a:bodyPr>
          <a:lstStyle/>
          <a:p>
            <a:pPr algn="ctr"/>
            <a:r>
              <a:rPr lang="en-US" sz="14900" dirty="0"/>
              <a:t>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EEDB41-3C24-F7BD-3911-77779B39A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931" y="0"/>
            <a:ext cx="10423068" cy="6858000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</a:rPr>
              <a:t>	Chord Progression </a:t>
            </a:r>
            <a:r>
              <a:rPr lang="en-US" sz="8800" dirty="0">
                <a:solidFill>
                  <a:schemeClr val="bg1"/>
                </a:solidFill>
              </a:rPr>
              <a:t>=</a:t>
            </a:r>
          </a:p>
          <a:p>
            <a:pPr marL="0" indent="0">
              <a:buNone/>
            </a:pPr>
            <a:r>
              <a:rPr lang="en-US" sz="8800" dirty="0">
                <a:solidFill>
                  <a:schemeClr val="bg1"/>
                </a:solidFill>
              </a:rPr>
              <a:t>		A sequence of chords in order</a:t>
            </a:r>
            <a:endParaRPr lang="en-US" sz="4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9890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5C80F-7B2B-0380-15E7-9124598BA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E26F3-BB5D-6818-2778-6B3838FF5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058886" y="2479220"/>
            <a:ext cx="7756073" cy="1899558"/>
          </a:xfrm>
        </p:spPr>
        <p:txBody>
          <a:bodyPr>
            <a:noAutofit/>
          </a:bodyPr>
          <a:lstStyle/>
          <a:p>
            <a:pPr algn="ctr"/>
            <a:r>
              <a:rPr lang="en-US" sz="14900" dirty="0"/>
              <a:t>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85273-F480-FC1C-F607-CEFB9DE24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931" y="0"/>
            <a:ext cx="10423068" cy="6858000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</a:rPr>
              <a:t>	Arpeggio</a:t>
            </a:r>
            <a:r>
              <a:rPr lang="en-US" sz="8800" dirty="0">
                <a:solidFill>
                  <a:schemeClr val="bg1"/>
                </a:solidFill>
              </a:rPr>
              <a:t> = 					Notes of a 	chord played in sequence</a:t>
            </a:r>
          </a:p>
          <a:p>
            <a:pPr>
              <a:lnSpc>
                <a:spcPts val="1425"/>
              </a:lnSpc>
              <a:buNone/>
            </a:pPr>
            <a:r>
              <a:rPr lang="en-US" sz="4800" b="0" dirty="0">
                <a:solidFill>
                  <a:schemeClr val="accent1"/>
                </a:solidFill>
                <a:effectLst/>
                <a:latin typeface="Consolas" panose="020B0609020204030204" pitchFamily="49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https://musiclab.chromeexperiments.com/Arpeggios/</a:t>
            </a:r>
            <a:endParaRPr lang="en-US" sz="4800" b="0" dirty="0">
              <a:solidFill>
                <a:schemeClr val="accent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3687A9-33BB-08A2-3810-0CAF6665B606}"/>
              </a:ext>
            </a:extLst>
          </p:cNvPr>
          <p:cNvSpPr txBox="1">
            <a:spLocks/>
          </p:cNvSpPr>
          <p:nvPr/>
        </p:nvSpPr>
        <p:spPr>
          <a:xfrm>
            <a:off x="-7317922" y="2479220"/>
            <a:ext cx="7756073" cy="18995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0200" dirty="0"/>
              <a:t>PRODUCTION</a:t>
            </a:r>
          </a:p>
        </p:txBody>
      </p:sp>
    </p:spTree>
    <p:extLst>
      <p:ext uri="{BB962C8B-B14F-4D97-AF65-F5344CB8AC3E}">
        <p14:creationId xmlns:p14="http://schemas.microsoft.com/office/powerpoint/2010/main" val="2115843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5527C-E386-0929-6A6A-579D8C1BC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09728-6A91-61EB-525A-61888FD0B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3058886" y="2479220"/>
            <a:ext cx="7756073" cy="1899558"/>
          </a:xfrm>
        </p:spPr>
        <p:txBody>
          <a:bodyPr>
            <a:noAutofit/>
          </a:bodyPr>
          <a:lstStyle/>
          <a:p>
            <a:pPr algn="ctr"/>
            <a:r>
              <a:rPr lang="en-US" sz="10200" dirty="0"/>
              <a:t>PRODUCTION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6DE87A-4888-1290-5C69-0354DFDB4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931" y="0"/>
            <a:ext cx="10423068" cy="6858000"/>
          </a:xfrm>
          <a:solidFill>
            <a:schemeClr val="tx1"/>
          </a:solidFill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8800" b="1" dirty="0">
                <a:solidFill>
                  <a:schemeClr val="bg1"/>
                </a:solidFill>
              </a:rPr>
              <a:t>	</a:t>
            </a:r>
            <a:r>
              <a:rPr lang="en-US" sz="8800" dirty="0">
                <a:solidFill>
                  <a:schemeClr val="bg1"/>
                </a:solidFill>
              </a:rPr>
              <a:t>You can make music electronically</a:t>
            </a:r>
            <a:endParaRPr lang="en-US" sz="4800" b="0" dirty="0">
              <a:solidFill>
                <a:schemeClr val="accent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374C51-FA35-8503-A1E8-E7BD6546A88E}"/>
              </a:ext>
            </a:extLst>
          </p:cNvPr>
          <p:cNvSpPr txBox="1">
            <a:spLocks/>
          </p:cNvSpPr>
          <p:nvPr/>
        </p:nvSpPr>
        <p:spPr>
          <a:xfrm rot="16200000">
            <a:off x="-5094515" y="2664278"/>
            <a:ext cx="7756073" cy="189955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4900"/>
              <a:t>THEORY</a:t>
            </a:r>
            <a:endParaRPr lang="en-US" sz="14900" dirty="0"/>
          </a:p>
        </p:txBody>
      </p:sp>
    </p:spTree>
    <p:extLst>
      <p:ext uri="{BB962C8B-B14F-4D97-AF65-F5344CB8AC3E}">
        <p14:creationId xmlns:p14="http://schemas.microsoft.com/office/powerpoint/2010/main" val="4523650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Braided Puff Pastry Apple Strudel – A Cup of Sugar … A Pinch of Salt">
            <a:extLst>
              <a:ext uri="{FF2B5EF4-FFF2-40B4-BE49-F238E27FC236}">
                <a16:creationId xmlns:a16="http://schemas.microsoft.com/office/drawing/2014/main" id="{28837C87-6B9E-7BE9-EDBE-95604F115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81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3F8E0A-D1D9-B457-4F9B-183A752A6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/>
              <a:t>Strudel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0F43D-2385-25EA-88CE-EF4DA8E2E6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769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a browser-based live-coding environment where you can make music with code</a:t>
            </a:r>
          </a:p>
        </p:txBody>
      </p:sp>
      <p:pic>
        <p:nvPicPr>
          <p:cNvPr id="2052" name="Picture 4" descr="Strudel Icon">
            <a:extLst>
              <a:ext uri="{FF2B5EF4-FFF2-40B4-BE49-F238E27FC236}">
                <a16:creationId xmlns:a16="http://schemas.microsoft.com/office/drawing/2014/main" id="{DE460168-CD14-BF99-DB82-0C12C0B030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7243" y="365125"/>
            <a:ext cx="4724400" cy="5905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7CECFE4-3955-7F44-374A-238845319AF4}"/>
              </a:ext>
            </a:extLst>
          </p:cNvPr>
          <p:cNvSpPr txBox="1"/>
          <p:nvPr/>
        </p:nvSpPr>
        <p:spPr>
          <a:xfrm>
            <a:off x="838200" y="4145815"/>
            <a:ext cx="5426529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4800" dirty="0">
                <a:solidFill>
                  <a:schemeClr val="accent6"/>
                </a:solidFill>
              </a:rPr>
              <a:t>note</a:t>
            </a:r>
            <a:r>
              <a:rPr lang="en-US" sz="4800" dirty="0"/>
              <a:t>(</a:t>
            </a:r>
            <a:r>
              <a:rPr lang="en-US" sz="4800" dirty="0">
                <a:solidFill>
                  <a:schemeClr val="accent5"/>
                </a:solidFill>
              </a:rPr>
              <a:t>"c a f e"</a:t>
            </a:r>
            <a:r>
              <a:rPr lang="en-US" sz="4800" dirty="0"/>
              <a:t>)</a:t>
            </a:r>
          </a:p>
        </p:txBody>
      </p:sp>
      <p:pic>
        <p:nvPicPr>
          <p:cNvPr id="8" name="CAFE">
            <a:hlinkClick r:id="" action="ppaction://media"/>
            <a:extLst>
              <a:ext uri="{FF2B5EF4-FFF2-40B4-BE49-F238E27FC236}">
                <a16:creationId xmlns:a16="http://schemas.microsoft.com/office/drawing/2014/main" id="{219C82E6-EC24-0CA2-565C-3F7A45C5083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784022" y="5272087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4847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60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  <p:bldLst>
      <p:bldP spid="3" grpId="0" build="p"/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Coding Trance Music: in the beginning">
            <a:hlinkClick r:id="" action="ppaction://media"/>
            <a:extLst>
              <a:ext uri="{FF2B5EF4-FFF2-40B4-BE49-F238E27FC236}">
                <a16:creationId xmlns:a16="http://schemas.microsoft.com/office/drawing/2014/main" id="{98FFB369-AE09-7C81-7645-6F8C80A9608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385054" y="0"/>
            <a:ext cx="3875087" cy="6858000"/>
          </a:xfrm>
          <a:prstGeom prst="rect">
            <a:avLst/>
          </a:prstGeom>
        </p:spPr>
      </p:pic>
      <p:pic>
        <p:nvPicPr>
          <p:cNvPr id="5" name="Online Media 4" title="Making Stranger Things Intro Theme in strudel.cc | Vibe Code to music #vibecode #retromusic">
            <a:hlinkClick r:id="" action="ppaction://media"/>
            <a:extLst>
              <a:ext uri="{FF2B5EF4-FFF2-40B4-BE49-F238E27FC236}">
                <a16:creationId xmlns:a16="http://schemas.microsoft.com/office/drawing/2014/main" id="{6A23478B-60E3-906B-EC0B-866B07534CCD}"/>
              </a:ext>
            </a:extLst>
          </p:cNvPr>
          <p:cNvPicPr>
            <a:picLocks noRot="1" noChangeAspect="1"/>
          </p:cNvPicPr>
          <p:nvPr>
            <a:videoFile r:link="rId2"/>
          </p:nvPr>
        </p:nvPicPr>
        <p:blipFill>
          <a:blip r:embed="rId5"/>
          <a:stretch>
            <a:fillRect/>
          </a:stretch>
        </p:blipFill>
        <p:spPr>
          <a:xfrm>
            <a:off x="6683887" y="0"/>
            <a:ext cx="38750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53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E64E0-36CD-3881-BD44-936589EA62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1. Tutorial Speedrun</a:t>
            </a:r>
            <a:br>
              <a:rPr lang="en-US" dirty="0"/>
            </a:br>
            <a:r>
              <a:rPr lang="en-US" dirty="0"/>
              <a:t>2. Live Coding Playground</a:t>
            </a:r>
          </a:p>
        </p:txBody>
      </p:sp>
    </p:spTree>
    <p:extLst>
      <p:ext uri="{BB962C8B-B14F-4D97-AF65-F5344CB8AC3E}">
        <p14:creationId xmlns:p14="http://schemas.microsoft.com/office/powerpoint/2010/main" val="1601059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Synthwave">
      <a:dk1>
        <a:srgbClr val="FFC8DF"/>
      </a:dk1>
      <a:lt1>
        <a:srgbClr val="270527"/>
      </a:lt1>
      <a:dk2>
        <a:srgbClr val="FFC8DF"/>
      </a:dk2>
      <a:lt2>
        <a:srgbClr val="270527"/>
      </a:lt2>
      <a:accent1>
        <a:srgbClr val="FF1FEF"/>
      </a:accent1>
      <a:accent2>
        <a:srgbClr val="C673E7"/>
      </a:accent2>
      <a:accent3>
        <a:srgbClr val="FFFFFF"/>
      </a:accent3>
      <a:accent4>
        <a:srgbClr val="000000"/>
      </a:accent4>
      <a:accent5>
        <a:srgbClr val="FF975D"/>
      </a:accent5>
      <a:accent6>
        <a:srgbClr val="4AF44A"/>
      </a:accent6>
      <a:hlink>
        <a:srgbClr val="FFFFFF"/>
      </a:hlink>
      <a:folHlink>
        <a:srgbClr val="CEB3FF"/>
      </a:folHlink>
    </a:clrScheme>
    <a:fontScheme name="Synthwave">
      <a:majorFont>
        <a:latin typeface="NSimSun"/>
        <a:ea typeface=""/>
        <a:cs typeface=""/>
      </a:majorFont>
      <a:minorFont>
        <a:latin typeface="Consolas"/>
        <a:ea typeface=""/>
        <a:cs typeface=""/>
      </a:minorFont>
    </a:fontScheme>
    <a:fmtScheme name="Glow Edge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1882</TotalTime>
  <Words>397</Words>
  <Application>Microsoft Office PowerPoint</Application>
  <PresentationFormat>Widescreen</PresentationFormat>
  <Paragraphs>86</Paragraphs>
  <Slides>29</Slides>
  <Notes>3</Notes>
  <HiddenSlides>0</HiddenSlides>
  <MMClips>3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SimSun</vt:lpstr>
      <vt:lpstr>Wingdings</vt:lpstr>
      <vt:lpstr>NSimSun</vt:lpstr>
      <vt:lpstr>Calibri</vt:lpstr>
      <vt:lpstr>Arial</vt:lpstr>
      <vt:lpstr>Consolas</vt:lpstr>
      <vt:lpstr>Office Theme</vt:lpstr>
      <vt:lpstr> MUSIC</vt:lpstr>
      <vt:lpstr>What Is Music?  </vt:lpstr>
      <vt:lpstr>AGENDA</vt:lpstr>
      <vt:lpstr>PowerPoint Presentation</vt:lpstr>
      <vt:lpstr>SCIENCE</vt:lpstr>
      <vt:lpstr>SCIENCE</vt:lpstr>
      <vt:lpstr>SCIENCE</vt:lpstr>
      <vt:lpstr>SCIENCE</vt:lpstr>
      <vt:lpstr>PowerPoint Presentation</vt:lpstr>
      <vt:lpstr>PowerPoint Presentation</vt:lpstr>
      <vt:lpstr>PowerPoint Presentation</vt:lpstr>
      <vt:lpstr>THEORY</vt:lpstr>
      <vt:lpstr>THEORY</vt:lpstr>
      <vt:lpstr>THEORY</vt:lpstr>
      <vt:lpstr>THEORY</vt:lpstr>
      <vt:lpstr>THEORY</vt:lpstr>
      <vt:lpstr>THEORY</vt:lpstr>
      <vt:lpstr>THEORY</vt:lpstr>
      <vt:lpstr>THEORY</vt:lpstr>
      <vt:lpstr>THEORY</vt:lpstr>
      <vt:lpstr>THEORY</vt:lpstr>
      <vt:lpstr>THEORY</vt:lpstr>
      <vt:lpstr>THEORY</vt:lpstr>
      <vt:lpstr>THEORY</vt:lpstr>
      <vt:lpstr>THEORY</vt:lpstr>
      <vt:lpstr>PRODUCTION</vt:lpstr>
      <vt:lpstr>Strudel</vt:lpstr>
      <vt:lpstr>PowerPoint Presentation</vt:lpstr>
      <vt:lpstr>1. Tutorial Speedrun 2. Live Coding Playground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Synthwave Music</dc:title>
  <dc:creator>Joseph Maxwell</dc:creator>
  <cp:lastModifiedBy>Joseph Maxwell</cp:lastModifiedBy>
  <cp:revision>17</cp:revision>
  <dcterms:created xsi:type="dcterms:W3CDTF">2022-12-06T14:03:21Z</dcterms:created>
  <dcterms:modified xsi:type="dcterms:W3CDTF">2026-04-20T20:31:14Z</dcterms:modified>
</cp:coreProperties>
</file>