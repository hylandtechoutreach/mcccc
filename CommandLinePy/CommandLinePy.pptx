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1" r:id="rId4"/>
    <p:sldId id="272" r:id="rId5"/>
    <p:sldId id="273" r:id="rId6"/>
    <p:sldId id="275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6968" autoAdjust="0"/>
  </p:normalViewPr>
  <p:slideViewPr>
    <p:cSldViewPr snapToGrid="0">
      <p:cViewPr varScale="1">
        <p:scale>
          <a:sx n="85" d="100"/>
          <a:sy n="85" d="100"/>
        </p:scale>
        <p:origin x="15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4A9009-CAC7-4E8F-B94C-0786B4E8AB5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DB2-D7DE-4A9C-81F2-9C56ED9B5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5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Today we are going to show you how to unlock the power of the command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E3DB2-D7DE-4A9C-81F2-9C56ED9B5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33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/>
              <a:t>Here’s a quick video showing how computers used to be for everyone back in the day.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Watch about a minute of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E3DB2-D7DE-4A9C-81F2-9C56ED9B57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52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did people even survive back then? It was like pioneer times but for the world of computers.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Command-Line interfaces - programs based entirely on text – were all there really were! </a:t>
            </a:r>
            <a:r>
              <a:rPr lang="en-US" b="1" dirty="0"/>
              <a:t>Anyone know what GUI stands for?</a:t>
            </a: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Graphical User Interfaces are used in almost every piece of software today. Things like websites, games, apps – all have GUIs (</a:t>
            </a:r>
            <a:r>
              <a:rPr lang="en-US" b="0" dirty="0" err="1"/>
              <a:t>gooeys</a:t>
            </a:r>
            <a:r>
              <a:rPr lang="en-US" b="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Today, while almost everything is GUI-based, there are still some use cases for the command line. Sometimes it’s just better, and sometimes it’s actually necessary!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E3DB2-D7DE-4A9C-81F2-9C56ED9B57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4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So, why are we learning about this? Well, Python is used extensively in the terminal (or console, or command line).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actually the simplest way to run Python scripts!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E3DB2-D7DE-4A9C-81F2-9C56ED9B57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84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now, for our first ever standalone script…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print statement! That’s all we need for a command line application. </a:t>
            </a:r>
            <a:r>
              <a:rPr lang="en-US" b="1" dirty="0"/>
              <a:t>Anyone know what this will do?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prints what up world to the console. When Python reads, executes/runs this script (by running the `python main.py` command) – it shows up there in the command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E3DB2-D7DE-4A9C-81F2-9C56ED9B57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66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03605-48AC-A712-0A5B-0C14131AE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D81D5-5796-E40F-D097-8904860F5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EF5F2-B4CD-E048-4DF5-EE53A24E2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now, for our first ever standalone script…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print statement! That’s all we need for a command line application. </a:t>
            </a:r>
            <a:r>
              <a:rPr lang="en-US" b="1" dirty="0"/>
              <a:t>Anyone know what this will do?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prints what up world to the console. When Python reads, executes/runs this script (by running the `python main.py` command) – it shows up there in the command 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34F47-A520-2E6F-3F66-FCD583190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E3DB2-D7DE-4A9C-81F2-9C56ED9B57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17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Anyone have any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E3DB2-D7DE-4A9C-81F2-9C56ED9B57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54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C927-211E-F695-F673-61BFFAAE3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A6CC4-2215-9B41-887F-A1D0E2C6E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36545-AFB4-8EC4-5220-899DD5710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E289-1C12-4E95-8FE8-FF2F994E0C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BC74-147D-FAF1-D00B-685A300E6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B310A-2B56-230B-58AD-35D7ECDB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0F47-5AD8-443A-9517-598CBA1B0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6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FB43-D5BE-2876-CB49-A896CDB0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64883-F145-0EF2-64DD-823AA56AB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11C0B-FBD2-C737-6200-05D47A8DD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E289-1C12-4E95-8FE8-FF2F994E0C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2CFC7-47D5-C9CF-B0D8-C0245B2C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F34F1-978C-60E3-2B5E-BD6735D2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0F47-5AD8-443A-9517-598CBA1B0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3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455F-9FD3-2103-91D6-577D70AB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4CCEB-FAFD-1EC1-510C-30A9002C6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3CBAA-20A1-B7C5-EDD7-D1AE5DCE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E289-1C12-4E95-8FE8-FF2F994E0C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21E76-CD25-D9BE-A3A1-AA862D850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0181B-7981-9EF2-377D-4CC1A130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0F47-5AD8-443A-9517-598CBA1B0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8FF48-D170-CFFF-7A93-CBF5BD6C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1EFA-9CBA-E5BA-13B9-C75332D5F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E01C6-D842-65B0-1AAA-AA21CD285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3EE60-08C3-E307-4E0B-80A01DB12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E289-1C12-4E95-8FE8-FF2F994E0C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B30D8-FE53-44EE-02CA-DC6D7E576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60C29-3E97-C85A-5C14-4CDA38443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0F47-5AD8-443A-9517-598CBA1B0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02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1628A-54CE-2A16-5816-AB6AEA23A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73409-ED04-489C-1E46-E47889036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87FDF-E258-8336-E647-E00E813D5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BF7BC-24C6-AD02-769F-C5B7B840A8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4234B-C656-DD54-F7E9-917C82405D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395B95-3C30-A961-19D4-80775CD8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E289-1C12-4E95-8FE8-FF2F994E0C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E2B5A1-8DCF-7007-458C-CB500C53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C6AF28-8D1F-B9E2-13FF-E210EF55E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0F47-5AD8-443A-9517-598CBA1B0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3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B455E-9164-EC54-555F-520B16E9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689947-2F9D-68DB-E870-0DAEFEFBF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E289-1C12-4E95-8FE8-FF2F994E0C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8291E-6D73-5F4B-43B9-C4414E15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A1619-6CBE-FF0A-2D55-3E752C6D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0F47-5AD8-443A-9517-598CBA1B0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3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282D6D-FFA0-530A-E7B3-62425261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E289-1C12-4E95-8FE8-FF2F994E0C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9E5D2B-2F3B-330B-FCDC-5ABF6EC85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EF376-B965-F514-9ECD-BFF056651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0F47-5AD8-443A-9517-598CBA1B0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54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34F7-CC2A-6ACA-05FB-01FB54B4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64C73-6F20-14AB-B7C5-A2AC0FF03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432D5-30C0-A756-D89A-57E46E23D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6F56D-6DC7-8967-8EFD-07C767B0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E289-1C12-4E95-8FE8-FF2F994E0C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BFA07-7D8F-9236-F56E-36F06385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8D785-660C-DF69-823D-48A10790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0F47-5AD8-443A-9517-598CBA1B0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8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1A1D1-8F6F-CEB5-E7B4-B7922EF1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82521-3783-05C9-FF69-936E34260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41912-8401-4FA5-CA30-ED9FF5E9F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103DB-CC0E-92A2-12E1-27A57079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E289-1C12-4E95-8FE8-FF2F994E0C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AD828-6FF5-BB22-7759-73225C7D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F00AC-9ADF-5F19-B95D-A6BA08AD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0F47-5AD8-443A-9517-598CBA1B0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54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3A38D-63BA-E7FF-8667-F75B082B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43680-EBAB-0EE3-7BF4-BB6653D9D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E5820-6972-A0AC-C14A-5F229F8C4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E289-1C12-4E95-8FE8-FF2F994E0C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C6487-A318-B784-9238-14F35573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EFBA9-CB1D-CB8C-0162-ACFF99B8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0F47-5AD8-443A-9517-598CBA1B0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6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37193-01A9-9DD1-22F6-8D2D8F861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ABBE7-EFFB-ABF8-EA37-E393BBE36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8ADE5-0082-F7A1-BADF-FB0D41053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E289-1C12-4E95-8FE8-FF2F994E0C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99414-250D-AC76-D69A-3E52287D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9A15F-38AE-7E95-01EF-6D80671F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0F47-5AD8-443A-9517-598CBA1B0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1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AEF04-3AB4-3421-1A61-3CF24AE27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4BC58-B28F-5B8B-ACC5-549781640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A5F59-6F18-754B-3E4C-49450C96E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8E289-1C12-4E95-8FE8-FF2F994E0C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3949-E145-6D04-70EA-661F4BD12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4F663-AB0E-24A4-5EBD-8B92ACCEC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E0F47-5AD8-443A-9517-598CBA1B0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3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BEDVjg5y0Hg?rel=0&amp;start=19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testing-p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trix Code GIFs | Tenor">
            <a:extLst>
              <a:ext uri="{FF2B5EF4-FFF2-40B4-BE49-F238E27FC236}">
                <a16:creationId xmlns:a16="http://schemas.microsoft.com/office/drawing/2014/main" id="{04C4229B-1C89-7162-2360-9B94AA9BB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8807"/>
            <a:ext cx="12192000" cy="729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5F9D87-B969-CA3B-D00C-252706EEE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6320"/>
            <a:ext cx="12192000" cy="4484914"/>
          </a:xfrm>
        </p:spPr>
        <p:txBody>
          <a:bodyPr>
            <a:noAutofit/>
          </a:bodyPr>
          <a:lstStyle/>
          <a:p>
            <a:r>
              <a:rPr lang="en-US" sz="11500" dirty="0"/>
              <a:t>Unlocking the Power of the Command 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F09B0-0F1B-6781-D069-5CFFF7E05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287588"/>
            <a:ext cx="12192000" cy="570411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Hyland Tech Outreach</a:t>
            </a:r>
          </a:p>
        </p:txBody>
      </p:sp>
    </p:spTree>
    <p:extLst>
      <p:ext uri="{BB962C8B-B14F-4D97-AF65-F5344CB8AC3E}">
        <p14:creationId xmlns:p14="http://schemas.microsoft.com/office/powerpoint/2010/main" val="15924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EDVjg5y0Hg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71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Before the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026" y="1474470"/>
            <a:ext cx="6088924" cy="316611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</a:t>
            </a:r>
            <a:r>
              <a:rPr lang="en-US" dirty="0">
                <a:solidFill>
                  <a:schemeClr val="tx2"/>
                </a:solidFill>
              </a:rPr>
              <a:t>ommand-</a:t>
            </a:r>
            <a:r>
              <a:rPr lang="en-US" b="1" dirty="0">
                <a:solidFill>
                  <a:schemeClr val="tx2"/>
                </a:solidFill>
              </a:rPr>
              <a:t>L</a:t>
            </a:r>
            <a:r>
              <a:rPr lang="en-US" dirty="0">
                <a:solidFill>
                  <a:schemeClr val="tx2"/>
                </a:solidFill>
              </a:rPr>
              <a:t>ine </a:t>
            </a:r>
            <a:r>
              <a:rPr lang="en-US" b="1" dirty="0">
                <a:solidFill>
                  <a:schemeClr val="tx2"/>
                </a:solidFill>
              </a:rPr>
              <a:t>I</a:t>
            </a:r>
            <a:r>
              <a:rPr lang="en-US" dirty="0">
                <a:solidFill>
                  <a:schemeClr val="tx2"/>
                </a:solidFill>
              </a:rPr>
              <a:t>nterfaces (</a:t>
            </a:r>
            <a:r>
              <a:rPr lang="en-US" b="1" dirty="0"/>
              <a:t>CLI</a:t>
            </a:r>
            <a:r>
              <a:rPr lang="en-US" dirty="0">
                <a:solidFill>
                  <a:schemeClr val="tx2"/>
                </a:solidFill>
              </a:rPr>
              <a:t>) were once the primary means of computer interaction</a:t>
            </a:r>
          </a:p>
          <a:p>
            <a:endParaRPr lang="en-US" sz="1400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G</a:t>
            </a:r>
            <a:r>
              <a:rPr lang="en-US" dirty="0">
                <a:solidFill>
                  <a:schemeClr val="tx2"/>
                </a:solidFill>
              </a:rPr>
              <a:t>raphical </a:t>
            </a:r>
            <a:r>
              <a:rPr lang="en-US" b="1" dirty="0">
                <a:solidFill>
                  <a:schemeClr val="tx2"/>
                </a:solidFill>
              </a:rPr>
              <a:t>U</a:t>
            </a:r>
            <a:r>
              <a:rPr lang="en-US" dirty="0">
                <a:solidFill>
                  <a:schemeClr val="tx2"/>
                </a:solidFill>
              </a:rPr>
              <a:t>ser </a:t>
            </a:r>
            <a:r>
              <a:rPr lang="en-US" b="1" dirty="0">
                <a:solidFill>
                  <a:schemeClr val="tx2"/>
                </a:solidFill>
              </a:rPr>
              <a:t>I</a:t>
            </a:r>
            <a:r>
              <a:rPr lang="en-US" dirty="0">
                <a:solidFill>
                  <a:schemeClr val="tx2"/>
                </a:solidFill>
              </a:rPr>
              <a:t>nterfaces (</a:t>
            </a:r>
            <a:r>
              <a:rPr lang="en-US" b="1" dirty="0"/>
              <a:t>GUI</a:t>
            </a:r>
            <a:r>
              <a:rPr lang="en-US" dirty="0">
                <a:solidFill>
                  <a:schemeClr val="tx2"/>
                </a:solidFill>
              </a:rPr>
              <a:t>): the modern-day visual programs we all know and love</a:t>
            </a:r>
          </a:p>
        </p:txBody>
      </p:sp>
      <p:pic>
        <p:nvPicPr>
          <p:cNvPr id="1026" name="Picture 2" descr="Gooey Kirby GIF - Gooey Kirby Super Kirby Clash - Discover &amp; Share GIFs">
            <a:extLst>
              <a:ext uri="{FF2B5EF4-FFF2-40B4-BE49-F238E27FC236}">
                <a16:creationId xmlns:a16="http://schemas.microsoft.com/office/drawing/2014/main" id="{47827E9A-70C6-34C7-4DD9-A048D400A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52" y="4494906"/>
            <a:ext cx="3735977" cy="21830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indows Command-Line: Backgrounder - Windows Command Line">
            <a:extLst>
              <a:ext uri="{FF2B5EF4-FFF2-40B4-BE49-F238E27FC236}">
                <a16:creationId xmlns:a16="http://schemas.microsoft.com/office/drawing/2014/main" id="{F3B73837-2E76-C355-2E3C-1C7E90CCF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826" y="365125"/>
            <a:ext cx="5394148" cy="47771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376BD6-9FBA-5607-1E7D-0D1E2D37E024}"/>
              </a:ext>
            </a:extLst>
          </p:cNvPr>
          <p:cNvSpPr/>
          <p:nvPr/>
        </p:nvSpPr>
        <p:spPr>
          <a:xfrm>
            <a:off x="4498255" y="5383530"/>
            <a:ext cx="7503245" cy="1294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Now, the command line provides the ability to perform complex tasks that </a:t>
            </a:r>
            <a:r>
              <a:rPr lang="en-US" sz="2000" i="1" dirty="0">
                <a:solidFill>
                  <a:schemeClr val="bg1"/>
                </a:solidFill>
              </a:rPr>
              <a:t>cannot</a:t>
            </a:r>
            <a:r>
              <a:rPr lang="en-US" sz="2000" dirty="0">
                <a:solidFill>
                  <a:schemeClr val="bg1"/>
                </a:solidFill>
              </a:rPr>
              <a:t> be achieved with the available features provided by the operating system’s GUIs</a:t>
            </a:r>
          </a:p>
        </p:txBody>
      </p:sp>
    </p:spTree>
    <p:extLst>
      <p:ext uri="{BB962C8B-B14F-4D97-AF65-F5344CB8AC3E}">
        <p14:creationId xmlns:p14="http://schemas.microsoft.com/office/powerpoint/2010/main" val="275060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92EA-2A7D-7E9E-B376-E8897AE68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in the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06DF8-4C9F-3AC6-81CD-5E1CD412C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45444"/>
            <a:ext cx="9982200" cy="5861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The command line is the simplest way to see Python</a:t>
            </a:r>
          </a:p>
        </p:txBody>
      </p:sp>
      <p:pic>
        <p:nvPicPr>
          <p:cNvPr id="3074" name="Picture 2" descr="The Terminal: First Steps and Useful Commands – Real Python">
            <a:extLst>
              <a:ext uri="{FF2B5EF4-FFF2-40B4-BE49-F238E27FC236}">
                <a16:creationId xmlns:a16="http://schemas.microsoft.com/office/drawing/2014/main" id="{181117A8-492A-3152-B055-D289580DC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830" y="2533809"/>
            <a:ext cx="7038340" cy="3959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26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92EA-2A7D-7E9E-B376-E8897AE68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First Python Script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8BA957-479D-2585-EAAA-71837F1CAFF0}"/>
              </a:ext>
            </a:extLst>
          </p:cNvPr>
          <p:cNvSpPr/>
          <p:nvPr/>
        </p:nvSpPr>
        <p:spPr>
          <a:xfrm>
            <a:off x="0" y="1442086"/>
            <a:ext cx="12192000" cy="150876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200" dirty="0">
                <a:solidFill>
                  <a:srgbClr val="795E26"/>
                </a:solidFill>
                <a:latin typeface="Consolas" panose="020B0609020204030204" pitchFamily="49" charset="0"/>
              </a:rPr>
              <a:t> print</a:t>
            </a:r>
            <a:r>
              <a:rPr lang="en-US" sz="7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7200" dirty="0">
                <a:solidFill>
                  <a:srgbClr val="A31515"/>
                </a:solidFill>
                <a:latin typeface="Consolas" panose="020B0609020204030204" pitchFamily="49" charset="0"/>
              </a:rPr>
              <a:t>"hey world"</a:t>
            </a:r>
            <a:r>
              <a:rPr lang="en-US" sz="7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AF2DFD-C84A-90CA-515A-F74082B5B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" y="3120179"/>
            <a:ext cx="12174689" cy="322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14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1AB4-BD68-B031-A02E-5D922391D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4B3F-6522-84FB-D0E6-6B15787C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6888" y="79021"/>
            <a:ext cx="2935112" cy="1325563"/>
          </a:xfrm>
        </p:spPr>
        <p:txBody>
          <a:bodyPr/>
          <a:lstStyle/>
          <a:p>
            <a:pPr algn="ctr"/>
            <a:r>
              <a:rPr lang="en-US" b="1" dirty="0"/>
              <a:t>Other Powers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BDD274-24FC-00B5-FA62-2D5BB4DEB8B5}"/>
              </a:ext>
            </a:extLst>
          </p:cNvPr>
          <p:cNvSpPr txBox="1"/>
          <p:nvPr/>
        </p:nvSpPr>
        <p:spPr>
          <a:xfrm>
            <a:off x="9256889" y="1583403"/>
            <a:ext cx="293511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Sleeping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Asking questions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Using answers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Dynamic execution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C23E84-88B5-8A48-DD90-0F1750CF04F6}"/>
              </a:ext>
            </a:extLst>
          </p:cNvPr>
          <p:cNvSpPr/>
          <p:nvPr/>
        </p:nvSpPr>
        <p:spPr>
          <a:xfrm>
            <a:off x="-1" y="1"/>
            <a:ext cx="9256890" cy="6858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1111"/>
              </a:lnSpc>
              <a:buNone/>
            </a:pP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time 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</a:p>
          <a:p>
            <a:pPr>
              <a:lnSpc>
                <a:spcPct val="111111"/>
              </a:lnSpc>
              <a:buNone/>
            </a:pP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111"/>
              </a:lnSpc>
              <a:buNone/>
            </a:pP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"Welcome"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111"/>
              </a:lnSpc>
              <a:buNone/>
            </a:pP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111"/>
              </a:lnSpc>
              <a:buNone/>
            </a:pP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your_name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"What is your name? "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111"/>
              </a:lnSpc>
              <a:buNone/>
            </a:pP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"Hi, "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your_name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111"/>
              </a:lnSpc>
              <a:buNone/>
            </a:pP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111"/>
              </a:lnSpc>
              <a:buNone/>
            </a:pP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your_name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"Joseph"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111"/>
              </a:lnSpc>
              <a:buNone/>
            </a:pP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"That's my name too!"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111"/>
              </a:lnSpc>
              <a:buNone/>
            </a:pP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111"/>
              </a:lnSpc>
              <a:buNone/>
            </a:pP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 name is different"</a:t>
            </a:r>
            <a:r>
              <a:rPr lang="en-US" sz="32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111"/>
              </a:lnSpc>
              <a:buNone/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4D7FBF-853F-11C1-5CB9-382C24E2DF80}"/>
              </a:ext>
            </a:extLst>
          </p:cNvPr>
          <p:cNvSpPr/>
          <p:nvPr/>
        </p:nvSpPr>
        <p:spPr>
          <a:xfrm>
            <a:off x="9685867" y="1583403"/>
            <a:ext cx="2099733" cy="651797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70CCF6-A64D-7D00-7654-CF1E1F154CE4}"/>
              </a:ext>
            </a:extLst>
          </p:cNvPr>
          <p:cNvCxnSpPr>
            <a:cxnSpLocks/>
          </p:cNvCxnSpPr>
          <p:nvPr/>
        </p:nvCxnSpPr>
        <p:spPr>
          <a:xfrm flipH="1" flipV="1">
            <a:off x="4267200" y="564444"/>
            <a:ext cx="5429956" cy="1018959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611FD5-C2CA-4E50-9215-ACB5F9A6E329}"/>
              </a:ext>
            </a:extLst>
          </p:cNvPr>
          <p:cNvCxnSpPr>
            <a:cxnSpLocks/>
          </p:cNvCxnSpPr>
          <p:nvPr/>
        </p:nvCxnSpPr>
        <p:spPr>
          <a:xfrm flipH="1">
            <a:off x="2054578" y="1912584"/>
            <a:ext cx="7631289" cy="322616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18E5364-7C6B-4B69-1389-DF067C4E7CCF}"/>
              </a:ext>
            </a:extLst>
          </p:cNvPr>
          <p:cNvSpPr/>
          <p:nvPr/>
        </p:nvSpPr>
        <p:spPr>
          <a:xfrm>
            <a:off x="9485489" y="2564381"/>
            <a:ext cx="2477911" cy="1166343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628F34-97D0-67D8-E5DA-9F51F72A5584}"/>
              </a:ext>
            </a:extLst>
          </p:cNvPr>
          <p:cNvCxnSpPr>
            <a:cxnSpLocks/>
          </p:cNvCxnSpPr>
          <p:nvPr/>
        </p:nvCxnSpPr>
        <p:spPr>
          <a:xfrm flipH="1">
            <a:off x="9076267" y="2743200"/>
            <a:ext cx="409222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C3465AD-CFD9-9EB3-9B86-68C3AC83A2C0}"/>
              </a:ext>
            </a:extLst>
          </p:cNvPr>
          <p:cNvSpPr/>
          <p:nvPr/>
        </p:nvSpPr>
        <p:spPr>
          <a:xfrm>
            <a:off x="9485489" y="3988564"/>
            <a:ext cx="2477911" cy="1166343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F263D55-E2AC-2003-9E17-97E4B58A8283}"/>
              </a:ext>
            </a:extLst>
          </p:cNvPr>
          <p:cNvCxnSpPr>
            <a:cxnSpLocks/>
          </p:cNvCxnSpPr>
          <p:nvPr/>
        </p:nvCxnSpPr>
        <p:spPr>
          <a:xfrm flipH="1" flipV="1">
            <a:off x="5486400" y="3302848"/>
            <a:ext cx="3999089" cy="864535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8F2ABFA5-8A09-E44E-E5AE-2988D7B54009}"/>
              </a:ext>
            </a:extLst>
          </p:cNvPr>
          <p:cNvSpPr/>
          <p:nvPr/>
        </p:nvSpPr>
        <p:spPr>
          <a:xfrm>
            <a:off x="9485489" y="5437107"/>
            <a:ext cx="2477911" cy="1166343"/>
          </a:xfrm>
          <a:prstGeom prst="rect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9D7A2C7-C3DB-1561-5C7C-8A30D4F5B9E5}"/>
              </a:ext>
            </a:extLst>
          </p:cNvPr>
          <p:cNvCxnSpPr>
            <a:cxnSpLocks/>
          </p:cNvCxnSpPr>
          <p:nvPr/>
        </p:nvCxnSpPr>
        <p:spPr>
          <a:xfrm flipH="1" flipV="1">
            <a:off x="7981244" y="5412747"/>
            <a:ext cx="1504245" cy="203179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35FCDB08-596C-0DA6-8910-2002BF154B60}"/>
              </a:ext>
            </a:extLst>
          </p:cNvPr>
          <p:cNvSpPr/>
          <p:nvPr/>
        </p:nvSpPr>
        <p:spPr>
          <a:xfrm>
            <a:off x="6321777" y="254001"/>
            <a:ext cx="2353733" cy="1490133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hlinkClick r:id="rId3"/>
              </a:rPr>
              <a:t>https://hytop.onrender.com/e/testing-py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8719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21" grpId="0" animBg="1"/>
      <p:bldP spid="30" grpId="0" animBg="1"/>
      <p:bldP spid="35" grpId="0" animBg="1"/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AA19-04DA-9879-504E-363062AF9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045977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ython">
      <a:dk1>
        <a:srgbClr val="77FF77"/>
      </a:dk1>
      <a:lt1>
        <a:srgbClr val="000044"/>
      </a:lt1>
      <a:dk2>
        <a:srgbClr val="FFFFFF"/>
      </a:dk2>
      <a:lt2>
        <a:srgbClr val="000000"/>
      </a:lt2>
      <a:accent1>
        <a:srgbClr val="FFFFDD"/>
      </a:accent1>
      <a:accent2>
        <a:srgbClr val="FFDD00"/>
      </a:accent2>
      <a:accent3>
        <a:srgbClr val="DDFFFF"/>
      </a:accent3>
      <a:accent4>
        <a:srgbClr val="FFDDFF"/>
      </a:accent4>
      <a:accent5>
        <a:srgbClr val="00DDFF"/>
      </a:accent5>
      <a:accent6>
        <a:srgbClr val="DD00FF"/>
      </a:accent6>
      <a:hlink>
        <a:srgbClr val="FFFF77"/>
      </a:hlink>
      <a:folHlink>
        <a:srgbClr val="FFFFDD"/>
      </a:folHlink>
    </a:clrScheme>
    <a:fontScheme name="Python">
      <a:majorFont>
        <a:latin typeface="Space Mono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503</Words>
  <Application>Microsoft Office PowerPoint</Application>
  <PresentationFormat>Widescreen</PresentationFormat>
  <Paragraphs>56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Consolas</vt:lpstr>
      <vt:lpstr>Inter</vt:lpstr>
      <vt:lpstr>Space Mono</vt:lpstr>
      <vt:lpstr>Office Theme</vt:lpstr>
      <vt:lpstr>Unlocking the Power of the Command Line</vt:lpstr>
      <vt:lpstr>PowerPoint Presentation</vt:lpstr>
      <vt:lpstr>Before the GUI</vt:lpstr>
      <vt:lpstr>Python in the Command Line</vt:lpstr>
      <vt:lpstr>First Python Script</vt:lpstr>
      <vt:lpstr>Other Powers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Hello, Python</dc:title>
  <dc:creator>Joseph Maxwell</dc:creator>
  <cp:lastModifiedBy>Joseph Maxwell</cp:lastModifiedBy>
  <cp:revision>15</cp:revision>
  <dcterms:created xsi:type="dcterms:W3CDTF">2023-09-06T12:41:06Z</dcterms:created>
  <dcterms:modified xsi:type="dcterms:W3CDTF">2026-10-12T20:54:01Z</dcterms:modified>
</cp:coreProperties>
</file>