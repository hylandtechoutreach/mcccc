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8" r:id="rId2"/>
    <p:sldId id="259" r:id="rId3"/>
    <p:sldId id="260" r:id="rId4"/>
    <p:sldId id="261" r:id="rId5"/>
    <p:sldId id="262" r:id="rId6"/>
    <p:sldId id="264" r:id="rId7"/>
    <p:sldId id="263" r:id="rId8"/>
    <p:sldId id="265" r:id="rId9"/>
    <p:sldId id="266" r:id="rId10"/>
    <p:sldId id="271" r:id="rId11"/>
    <p:sldId id="267" r:id="rId12"/>
    <p:sldId id="268" r:id="rId13"/>
    <p:sldId id="269" r:id="rId14"/>
    <p:sldId id="276" r:id="rId15"/>
    <p:sldId id="270" r:id="rId16"/>
    <p:sldId id="272" r:id="rId17"/>
    <p:sldId id="273" r:id="rId18"/>
    <p:sldId id="274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692"/>
    <a:srgbClr val="FCFBF9"/>
    <a:srgbClr val="FFCC00"/>
    <a:srgbClr val="FFFFCC"/>
    <a:srgbClr val="0B0B0B"/>
    <a:srgbClr val="F8CCEA"/>
    <a:srgbClr val="020202"/>
    <a:srgbClr val="DD6BDD"/>
    <a:srgbClr val="BBE2DD"/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FA220EE-ED1F-4DBA-98A4-FBE62A725004}">
  <a:tblStyle styleId="{FFA220EE-ED1F-4DBA-98A4-FBE62A725004}" styleName="Hyland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100000"/>
            </a:schemeClr>
          </a:solidFill>
        </a:fill>
      </a:tcStyle>
    </a:wholeTbl>
    <a:band1H>
      <a:tcStyle>
        <a:tcBdr/>
        <a:fill>
          <a:solidFill>
            <a:schemeClr val="accent5">
              <a:tint val="10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6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535" autoAdjust="0"/>
  </p:normalViewPr>
  <p:slideViewPr>
    <p:cSldViewPr showGuides="1">
      <p:cViewPr varScale="1">
        <p:scale>
          <a:sx n="93" d="100"/>
          <a:sy n="93" d="100"/>
        </p:scale>
        <p:origin x="1212" y="90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114300" cy="1143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04133-B5B0-4351-8158-4F0E5EB1E2B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8F7F9-57EC-49CF-9FCD-2B781E4B4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4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if they</a:t>
            </a:r>
            <a:r>
              <a:rPr lang="en-US" baseline="0" dirty="0"/>
              <a:t> have seen books like this – “Choose Your Own Adventure”</a:t>
            </a:r>
          </a:p>
          <a:p>
            <a:endParaRPr lang="en-US" baseline="0" dirty="0"/>
          </a:p>
          <a:p>
            <a:r>
              <a:rPr lang="en-US" baseline="0" dirty="0"/>
              <a:t>These are called </a:t>
            </a:r>
            <a:r>
              <a:rPr lang="en-US" b="1" baseline="0" dirty="0"/>
              <a:t>gamebooks</a:t>
            </a:r>
            <a:r>
              <a:rPr lang="en-US" b="0" baseline="0" dirty="0"/>
              <a:t>.</a:t>
            </a:r>
            <a:endParaRPr lang="en-US" baseline="0" dirty="0"/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996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</a:t>
            </a:r>
            <a:r>
              <a:rPr lang="en-US" baseline="0" dirty="0"/>
              <a:t> books let the reader decide what happens.</a:t>
            </a:r>
          </a:p>
          <a:p>
            <a:endParaRPr lang="en-US" baseline="0" dirty="0"/>
          </a:p>
          <a:p>
            <a:r>
              <a:rPr lang="en-US" baseline="0" dirty="0"/>
              <a:t>The stories are </a:t>
            </a:r>
            <a:r>
              <a:rPr lang="en-US" i="1" baseline="0" dirty="0"/>
              <a:t>non-linear</a:t>
            </a:r>
            <a:r>
              <a:rPr lang="en-US" i="0" baseline="0" dirty="0"/>
              <a:t>, which just means they branch off in different directions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In most cases, the reader controls the main character of</a:t>
            </a:r>
            <a:r>
              <a:rPr lang="en-US" baseline="0" dirty="0"/>
              <a:t> the story, making these books a lot like video games!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These books are the physical</a:t>
            </a:r>
            <a:r>
              <a:rPr lang="en-US" baseline="0" dirty="0"/>
              <a:t> version </a:t>
            </a:r>
            <a:r>
              <a:rPr lang="en-US" baseline="0"/>
              <a:t>of interactive fiction.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76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interactive fiction? These works are basically the same</a:t>
            </a:r>
            <a:r>
              <a:rPr lang="en-US" baseline="0" dirty="0"/>
              <a:t> as gamebooks, but in software form.</a:t>
            </a:r>
          </a:p>
          <a:p>
            <a:endParaRPr lang="en-US" baseline="0" dirty="0"/>
          </a:p>
          <a:p>
            <a:r>
              <a:rPr lang="en-US" baseline="0" dirty="0"/>
              <a:t>The software allows these works to have a lot more features, like inventory, stats, and more. This all makes these stories a lot more like games. </a:t>
            </a:r>
          </a:p>
          <a:p>
            <a:endParaRPr lang="en-US" baseline="0" dirty="0"/>
          </a:p>
          <a:p>
            <a:r>
              <a:rPr lang="en-US" baseline="0" dirty="0"/>
              <a:t>They can also have very interesting branching patterns, where the reader (or </a:t>
            </a:r>
            <a:r>
              <a:rPr lang="en-US" b="1" baseline="0" dirty="0"/>
              <a:t>player</a:t>
            </a:r>
            <a:r>
              <a:rPr lang="en-US" b="0" baseline="0" dirty="0"/>
              <a:t>) can follow a number of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91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Lots of interactive fiction games are published online. Let’s take a look at an example.</a:t>
            </a:r>
          </a:p>
          <a:p>
            <a:endParaRPr lang="en-US" dirty="0"/>
          </a:p>
          <a:p>
            <a:r>
              <a:rPr lang="en-US" dirty="0"/>
              <a:t>This</a:t>
            </a:r>
            <a:r>
              <a:rPr lang="en-US" baseline="0" dirty="0"/>
              <a:t> is a screenshot from a game someone made. It tells part of the story, and then lets the player decide what to do next!</a:t>
            </a:r>
            <a:endParaRPr lang="en-US" dirty="0"/>
          </a:p>
          <a:p>
            <a:endParaRPr lang="en-US" dirty="0"/>
          </a:p>
          <a:p>
            <a:r>
              <a:rPr lang="en-US" dirty="0"/>
              <a:t>Click the “Dead Space” link and zoom in to play the</a:t>
            </a:r>
            <a:r>
              <a:rPr lang="en-US" baseline="0" dirty="0"/>
              <a:t> game.</a:t>
            </a:r>
          </a:p>
          <a:p>
            <a:endParaRPr lang="en-US" baseline="0" dirty="0"/>
          </a:p>
          <a:p>
            <a:r>
              <a:rPr lang="en-US" baseline="0" dirty="0"/>
              <a:t>Emphasize that the game uses </a:t>
            </a:r>
            <a:r>
              <a:rPr lang="en-US" b="1" baseline="0" dirty="0"/>
              <a:t>links</a:t>
            </a:r>
            <a:r>
              <a:rPr lang="en-US" b="0" baseline="0" dirty="0"/>
              <a:t> to let the player choose what to do next.</a:t>
            </a:r>
          </a:p>
          <a:p>
            <a:endParaRPr lang="en-US" b="0" baseline="0" dirty="0"/>
          </a:p>
          <a:p>
            <a:r>
              <a:rPr lang="en-US" b="0" baseline="0" dirty="0"/>
              <a:t>Allow the students to play through “Dead Space” and see which different endings they find.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89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if they have any idea how people make these games.</a:t>
            </a:r>
            <a:r>
              <a:rPr lang="en-US" baseline="0" dirty="0"/>
              <a:t> There are a lot of different ways, but one of the most popular is </a:t>
            </a:r>
            <a:r>
              <a:rPr lang="en-US" b="1" baseline="0" dirty="0"/>
              <a:t>Twine</a:t>
            </a:r>
            <a:r>
              <a:rPr lang="en-US" b="0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4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No, not this type of Twine.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62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Twine lets writers</a:t>
            </a:r>
            <a:r>
              <a:rPr lang="en-US" baseline="0" dirty="0"/>
              <a:t> create branching stories online!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208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Twine</a:t>
            </a:r>
            <a:r>
              <a:rPr lang="en-US" baseline="0" dirty="0"/>
              <a:t> is built around </a:t>
            </a:r>
            <a:r>
              <a:rPr lang="en-US" b="1" baseline="0" dirty="0"/>
              <a:t>passages</a:t>
            </a:r>
            <a:r>
              <a:rPr lang="en-US" b="0" baseline="0" dirty="0"/>
              <a:t> and </a:t>
            </a:r>
            <a:r>
              <a:rPr lang="en-US" b="1" baseline="0" dirty="0"/>
              <a:t>links</a:t>
            </a:r>
            <a:r>
              <a:rPr lang="en-US" b="0" baseline="0" dirty="0"/>
              <a:t>.</a:t>
            </a:r>
          </a:p>
          <a:p>
            <a:endParaRPr lang="en-US" b="0" baseline="0" dirty="0"/>
          </a:p>
          <a:p>
            <a:r>
              <a:rPr lang="en-US" b="0" baseline="0" dirty="0"/>
              <a:t>A </a:t>
            </a:r>
            <a:r>
              <a:rPr lang="en-US" b="1" baseline="0" dirty="0"/>
              <a:t>passage</a:t>
            </a:r>
            <a:r>
              <a:rPr lang="en-US" b="0" baseline="0" dirty="0"/>
              <a:t> is one page of a story. A passage usually contains text and </a:t>
            </a:r>
            <a:r>
              <a:rPr lang="en-US" b="1" baseline="0" dirty="0"/>
              <a:t>links</a:t>
            </a:r>
            <a:r>
              <a:rPr lang="en-US" b="0" baseline="0" dirty="0"/>
              <a:t>.</a:t>
            </a:r>
          </a:p>
          <a:p>
            <a:r>
              <a:rPr lang="en-US" b="0" baseline="0" dirty="0"/>
              <a:t>A </a:t>
            </a:r>
            <a:r>
              <a:rPr lang="en-US" b="1" baseline="0" dirty="0"/>
              <a:t>link</a:t>
            </a:r>
            <a:r>
              <a:rPr lang="en-US" b="0" baseline="0" dirty="0"/>
              <a:t> allows the player to go to a given passage.</a:t>
            </a:r>
          </a:p>
          <a:p>
            <a:endParaRPr lang="en-US" b="0" baseline="0" dirty="0"/>
          </a:p>
          <a:p>
            <a:r>
              <a:rPr lang="en-US" b="0" baseline="0" dirty="0"/>
              <a:t>For the image, ask the students what the </a:t>
            </a:r>
            <a:r>
              <a:rPr lang="en-US" b="0" i="1" baseline="0" dirty="0"/>
              <a:t>boxes</a:t>
            </a:r>
            <a:r>
              <a:rPr lang="en-US" b="0" i="0" baseline="0" dirty="0"/>
              <a:t> are. They are </a:t>
            </a:r>
            <a:r>
              <a:rPr lang="en-US" b="1" i="0" baseline="0" dirty="0"/>
              <a:t>passages</a:t>
            </a:r>
            <a:r>
              <a:rPr lang="en-US" b="0" i="0" baseline="0" dirty="0"/>
              <a:t>.</a:t>
            </a:r>
          </a:p>
          <a:p>
            <a:r>
              <a:rPr lang="en-US" b="0" i="0" baseline="0" dirty="0"/>
              <a:t>Ask the students what the </a:t>
            </a:r>
            <a:r>
              <a:rPr lang="en-US" b="0" i="1" baseline="0" dirty="0"/>
              <a:t>arrows</a:t>
            </a:r>
            <a:r>
              <a:rPr lang="en-US" b="0" i="0" baseline="0" dirty="0"/>
              <a:t> are. They are </a:t>
            </a:r>
            <a:r>
              <a:rPr lang="en-US" b="1" i="0" baseline="0" dirty="0"/>
              <a:t>links</a:t>
            </a:r>
            <a:r>
              <a:rPr lang="en-US" b="0" i="0" baseline="0" dirty="0"/>
              <a:t>.</a:t>
            </a:r>
            <a:endParaRPr lang="en-US" b="0" baseline="0" dirty="0"/>
          </a:p>
          <a:p>
            <a:endParaRPr lang="en-US" b="0" baseline="0" dirty="0"/>
          </a:p>
          <a:p>
            <a:r>
              <a:rPr lang="en-US" b="0" baseline="0" dirty="0"/>
              <a:t>To create </a:t>
            </a:r>
            <a:r>
              <a:rPr lang="en-US" b="1" baseline="0" dirty="0"/>
              <a:t>Links</a:t>
            </a:r>
            <a:r>
              <a:rPr lang="en-US" b="0" baseline="0" dirty="0"/>
              <a:t>, use double square brackets on both sides. This will automatically create another passage.</a:t>
            </a:r>
          </a:p>
          <a:p>
            <a:r>
              <a:rPr lang="en-US" b="0" baseline="0" dirty="0"/>
              <a:t>It is also possible to create a link using a different passage title and text using the pipe character.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089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Within</a:t>
            </a:r>
            <a:r>
              <a:rPr lang="en-US" baseline="0" dirty="0"/>
              <a:t> passages, it is possible to add </a:t>
            </a:r>
            <a:r>
              <a:rPr lang="en-US" b="1" baseline="0" dirty="0"/>
              <a:t>images</a:t>
            </a:r>
            <a:r>
              <a:rPr lang="en-US" b="0" baseline="0" dirty="0"/>
              <a:t>. This is similar to adding links.</a:t>
            </a:r>
          </a:p>
          <a:p>
            <a:endParaRPr lang="en-US" b="0" baseline="0" dirty="0"/>
          </a:p>
          <a:p>
            <a:r>
              <a:rPr lang="en-US" b="0" baseline="0" dirty="0"/>
              <a:t>To add an image in a passage, start with </a:t>
            </a:r>
            <a:r>
              <a:rPr lang="en-US" b="1" baseline="0" dirty="0"/>
              <a:t>[</a:t>
            </a:r>
            <a:r>
              <a:rPr lang="en-US" b="1" baseline="0" dirty="0" err="1"/>
              <a:t>img</a:t>
            </a:r>
            <a:r>
              <a:rPr lang="en-US" b="1" baseline="0" dirty="0"/>
              <a:t>[</a:t>
            </a:r>
            <a:r>
              <a:rPr lang="en-US" b="0" baseline="0" dirty="0"/>
              <a:t>, then add the URL for the image, then </a:t>
            </a:r>
            <a:r>
              <a:rPr lang="en-US" b="1" baseline="0" dirty="0"/>
              <a:t>]]</a:t>
            </a:r>
            <a:r>
              <a:rPr lang="en-US" b="0" baseline="0" dirty="0"/>
              <a:t>.</a:t>
            </a:r>
          </a:p>
          <a:p>
            <a:endParaRPr lang="en-US" b="0" baseline="0" dirty="0"/>
          </a:p>
          <a:p>
            <a:r>
              <a:rPr lang="en-US" b="0" baseline="0" dirty="0"/>
              <a:t>Adding the example code will place an image of a dog on the story page!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915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</a:t>
            </a:r>
            <a:r>
              <a:rPr lang="en-US" baseline="0" dirty="0"/>
              <a:t> what a story will look like when a player is actually reading it.</a:t>
            </a:r>
          </a:p>
          <a:p>
            <a:endParaRPr lang="en-US" baseline="0" dirty="0"/>
          </a:p>
          <a:p>
            <a:r>
              <a:rPr lang="en-US" baseline="0" dirty="0"/>
              <a:t>Because these stories are published as websites, we can use CSS on them!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581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Twine</a:t>
            </a:r>
            <a:r>
              <a:rPr lang="en-US" baseline="0" dirty="0"/>
              <a:t> stories publish as </a:t>
            </a:r>
            <a:r>
              <a:rPr lang="en-US" b="1" baseline="0" dirty="0"/>
              <a:t>websites</a:t>
            </a:r>
            <a:r>
              <a:rPr lang="en-US" b="0" baseline="0" dirty="0"/>
              <a:t>, which means writers can use CSS to add style to their page!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3510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if they know what CSS is. Explain that it is a language used</a:t>
            </a:r>
            <a:r>
              <a:rPr lang="en-US" baseline="0" dirty="0"/>
              <a:t> to style websites.</a:t>
            </a:r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864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students a quick example of</a:t>
            </a:r>
            <a:r>
              <a:rPr lang="en-US" baseline="0" dirty="0"/>
              <a:t> how a </a:t>
            </a:r>
            <a:r>
              <a:rPr lang="en-US" b="1" baseline="0" dirty="0"/>
              <a:t>CSS Ruleset</a:t>
            </a:r>
            <a:r>
              <a:rPr lang="en-US" b="0" baseline="0" dirty="0"/>
              <a:t> looks.</a:t>
            </a:r>
          </a:p>
          <a:p>
            <a:endParaRPr lang="en-US" b="0" baseline="0" dirty="0"/>
          </a:p>
          <a:p>
            <a:r>
              <a:rPr lang="en-US" b="0" baseline="0" dirty="0"/>
              <a:t>Ask the students to guess what this CSS would do on a webpage. It sets the </a:t>
            </a:r>
            <a:r>
              <a:rPr lang="en-US" b="1" baseline="0" dirty="0"/>
              <a:t>text color</a:t>
            </a:r>
            <a:r>
              <a:rPr lang="en-US" b="0" baseline="0" dirty="0"/>
              <a:t> to </a:t>
            </a:r>
            <a:r>
              <a:rPr lang="en-US" b="1" baseline="0" dirty="0"/>
              <a:t>pink</a:t>
            </a:r>
            <a:r>
              <a:rPr lang="en-US" b="0" baseline="0" dirty="0"/>
              <a:t>, and sets the </a:t>
            </a:r>
            <a:r>
              <a:rPr lang="en-US" b="1" baseline="0" dirty="0"/>
              <a:t>background color</a:t>
            </a:r>
            <a:r>
              <a:rPr lang="en-US" b="0" baseline="0" dirty="0"/>
              <a:t> to </a:t>
            </a:r>
            <a:r>
              <a:rPr lang="en-US" b="1" baseline="0" dirty="0"/>
              <a:t>blue</a:t>
            </a:r>
            <a:r>
              <a:rPr lang="en-US" b="0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295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Chrome Dev Tools is allows</a:t>
            </a:r>
            <a:r>
              <a:rPr lang="en-US" baseline="0" dirty="0"/>
              <a:t> developers to do all sorts of things on websites. It can change styles on any page right from the browser!</a:t>
            </a:r>
          </a:p>
          <a:p>
            <a:endParaRPr lang="en-US" baseline="0" dirty="0"/>
          </a:p>
          <a:p>
            <a:r>
              <a:rPr lang="en-US" baseline="0" dirty="0"/>
              <a:t>There are many styles to explore, </a:t>
            </a:r>
            <a:r>
              <a:rPr lang="en-US" b="1" baseline="0" dirty="0"/>
              <a:t>font-size</a:t>
            </a:r>
            <a:r>
              <a:rPr lang="en-US" b="0" baseline="0" dirty="0"/>
              <a:t> and </a:t>
            </a:r>
            <a:r>
              <a:rPr lang="en-US" b="1" baseline="0" dirty="0"/>
              <a:t>font-family</a:t>
            </a:r>
            <a:r>
              <a:rPr lang="en-US" b="0" baseline="0" dirty="0"/>
              <a:t> are only a couple of examples.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Follow the steps listed. Set the properties referenced. </a:t>
            </a:r>
            <a:r>
              <a:rPr lang="en-US" i="1" baseline="0" dirty="0"/>
              <a:t>Note: not all properties will work well on the Wikipedia page (e.g., </a:t>
            </a:r>
            <a:r>
              <a:rPr lang="en-US" b="1" i="1" baseline="0" dirty="0"/>
              <a:t>color</a:t>
            </a:r>
            <a:r>
              <a:rPr lang="en-US" i="1" baseline="0" dirty="0"/>
              <a:t> and </a:t>
            </a:r>
            <a:r>
              <a:rPr lang="en-US" b="1" i="1" baseline="0" dirty="0"/>
              <a:t>background-color</a:t>
            </a:r>
            <a:r>
              <a:rPr lang="en-US" i="1" baseline="0" dirty="0"/>
              <a:t> do not)</a:t>
            </a:r>
          </a:p>
          <a:p>
            <a:endParaRPr lang="en-US" i="1" baseline="0" dirty="0"/>
          </a:p>
          <a:p>
            <a:r>
              <a:rPr lang="en-US" i="0" baseline="0" dirty="0"/>
              <a:t>Writers can use CSS like this to style Twine story pages!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8502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if any</a:t>
            </a:r>
            <a:r>
              <a:rPr lang="en-US" baseline="0" dirty="0"/>
              <a:t> of the students have played Sims. We’ll get into the example in a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6238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concept of variables. Variables are containers for data (or information).</a:t>
            </a:r>
          </a:p>
          <a:p>
            <a:endParaRPr lang="en-US" dirty="0"/>
          </a:p>
          <a:p>
            <a:r>
              <a:rPr lang="en-US" dirty="0"/>
              <a:t>The data stored in a variable can </a:t>
            </a:r>
            <a:r>
              <a:rPr lang="en-US" i="1" dirty="0"/>
              <a:t>change</a:t>
            </a:r>
            <a:r>
              <a:rPr lang="en-US" dirty="0"/>
              <a:t> based</a:t>
            </a:r>
            <a:r>
              <a:rPr lang="en-US" baseline="0" dirty="0"/>
              <a:t> on the program.</a:t>
            </a:r>
          </a:p>
          <a:p>
            <a:endParaRPr lang="en-US" baseline="0" dirty="0"/>
          </a:p>
          <a:p>
            <a:r>
              <a:rPr lang="en-US" baseline="0" dirty="0"/>
              <a:t>In the example, someone has a skill level of </a:t>
            </a:r>
            <a:r>
              <a:rPr lang="en-US" b="1" baseline="0" dirty="0"/>
              <a:t>4</a:t>
            </a:r>
            <a:r>
              <a:rPr lang="en-US" baseline="0" dirty="0"/>
              <a:t> on the guitar (</a:t>
            </a:r>
            <a:r>
              <a:rPr lang="en-US" b="1" baseline="0" dirty="0"/>
              <a:t>$</a:t>
            </a:r>
            <a:r>
              <a:rPr lang="en-US" b="1" baseline="0" dirty="0" err="1"/>
              <a:t>guitar_skill_level</a:t>
            </a:r>
            <a:r>
              <a:rPr lang="en-US" baseline="0" dirty="0"/>
              <a:t>). Then, they practice the skill, and level up to </a:t>
            </a:r>
            <a:r>
              <a:rPr lang="en-US" b="1" baseline="0" dirty="0"/>
              <a:t>5</a:t>
            </a:r>
            <a:r>
              <a:rPr lang="en-US" b="0" baseline="0" dirty="0"/>
              <a:t>!</a:t>
            </a:r>
          </a:p>
          <a:p>
            <a:endParaRPr lang="en-US" b="0" baseline="0" dirty="0"/>
          </a:p>
          <a:p>
            <a:r>
              <a:rPr lang="en-US" b="0" baseline="0" dirty="0"/>
              <a:t>This is a </a:t>
            </a:r>
            <a:r>
              <a:rPr lang="en-US" b="0" i="1" baseline="0" dirty="0"/>
              <a:t>variable</a:t>
            </a:r>
            <a:r>
              <a:rPr lang="en-US" b="0" i="0" baseline="0" dirty="0"/>
              <a:t> changing its value based on what happens in the program. The </a:t>
            </a:r>
            <a:r>
              <a:rPr lang="en-US" b="0" i="1" baseline="0" dirty="0"/>
              <a:t>variable name</a:t>
            </a:r>
            <a:r>
              <a:rPr lang="en-US" b="0" i="0" baseline="0" dirty="0"/>
              <a:t> is </a:t>
            </a:r>
            <a:r>
              <a:rPr lang="en-US" b="1" i="0" baseline="0" dirty="0"/>
              <a:t>$</a:t>
            </a:r>
            <a:r>
              <a:rPr lang="en-US" b="1" i="0" baseline="0" dirty="0" err="1"/>
              <a:t>guitar_skill_level</a:t>
            </a:r>
            <a:r>
              <a:rPr lang="en-US" b="0" i="0" baseline="0" dirty="0"/>
              <a:t> and the </a:t>
            </a:r>
            <a:r>
              <a:rPr lang="en-US" b="0" i="1" baseline="0" dirty="0"/>
              <a:t>variable value</a:t>
            </a:r>
            <a:r>
              <a:rPr lang="en-US" b="0" i="0" baseline="0" dirty="0"/>
              <a:t> is </a:t>
            </a:r>
            <a:r>
              <a:rPr lang="en-US" b="1" i="0" baseline="0" dirty="0"/>
              <a:t>5</a:t>
            </a:r>
            <a:r>
              <a:rPr lang="en-US" b="0" i="0" baseline="0" dirty="0"/>
              <a:t>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835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to use variables in Twine. They can be used to keep track of information.</a:t>
            </a:r>
          </a:p>
          <a:p>
            <a:endParaRPr lang="en-US" dirty="0"/>
          </a:p>
          <a:p>
            <a:r>
              <a:rPr lang="en-US" dirty="0"/>
              <a:t>An</a:t>
            </a:r>
            <a:r>
              <a:rPr lang="en-US" baseline="0" dirty="0"/>
              <a:t> example that someone might use in a story is </a:t>
            </a:r>
            <a:r>
              <a:rPr lang="en-US" b="1" baseline="0" dirty="0"/>
              <a:t>health</a:t>
            </a:r>
            <a:r>
              <a:rPr lang="en-US" b="0" baseline="0" dirty="0"/>
              <a:t>. Someone might decide to attack a bear, which might </a:t>
            </a:r>
            <a:r>
              <a:rPr lang="en-US" b="0" i="1" baseline="0" dirty="0"/>
              <a:t>decrease</a:t>
            </a:r>
            <a:r>
              <a:rPr lang="en-US" b="0" baseline="0" dirty="0"/>
              <a:t> their health. They also might eat a carrot, which might </a:t>
            </a:r>
            <a:r>
              <a:rPr lang="en-US" b="0" i="1" baseline="0" dirty="0"/>
              <a:t>increase</a:t>
            </a:r>
            <a:r>
              <a:rPr lang="en-US" b="0" baseline="0" dirty="0"/>
              <a:t> their health.</a:t>
            </a:r>
          </a:p>
          <a:p>
            <a:br>
              <a:rPr lang="en-US" b="0" baseline="0" dirty="0"/>
            </a:br>
            <a:r>
              <a:rPr lang="en-US" b="0" baseline="0" dirty="0"/>
              <a:t>Variables can store all sorts of information, but we’ll mostly be using numbers and text.</a:t>
            </a:r>
          </a:p>
          <a:p>
            <a:endParaRPr lang="en-US" b="0" baseline="0" dirty="0"/>
          </a:p>
          <a:p>
            <a:r>
              <a:rPr lang="en-US" b="0" baseline="0" dirty="0"/>
              <a:t>In the story, set a variable using </a:t>
            </a:r>
            <a:r>
              <a:rPr lang="en-US" b="1" baseline="0" dirty="0"/>
              <a:t>&lt;&lt;set to &gt;&gt;</a:t>
            </a:r>
            <a:r>
              <a:rPr lang="en-US" b="0" baseline="0" dirty="0"/>
              <a:t>, including the variable name and value. Ask the students what the variable name and value are for this example (</a:t>
            </a:r>
            <a:r>
              <a:rPr lang="en-US" b="1" baseline="0" dirty="0"/>
              <a:t>$health</a:t>
            </a:r>
            <a:r>
              <a:rPr lang="en-US" b="0" baseline="0" dirty="0"/>
              <a:t> and </a:t>
            </a:r>
            <a:r>
              <a:rPr lang="en-US" b="1" baseline="0" dirty="0"/>
              <a:t>4</a:t>
            </a:r>
            <a:r>
              <a:rPr lang="en-US" b="0" baseline="0" dirty="0"/>
              <a:t>).</a:t>
            </a:r>
          </a:p>
          <a:p>
            <a:endParaRPr lang="en-US" b="0" baseline="0" dirty="0"/>
          </a:p>
          <a:p>
            <a:r>
              <a:rPr lang="en-US" b="0" baseline="0" dirty="0"/>
              <a:t>To use a variable, simply reference it in the story (starting with the dollar sign). Ask the students what the story would say based on the variable value (</a:t>
            </a:r>
            <a:r>
              <a:rPr lang="en-US" b="1" baseline="0" dirty="0"/>
              <a:t>Your health is 4</a:t>
            </a:r>
            <a:r>
              <a:rPr lang="en-US" b="0" baseline="0" dirty="0"/>
              <a:t>).</a:t>
            </a:r>
          </a:p>
          <a:p>
            <a:endParaRPr lang="en-US" b="0" baseline="0" dirty="0"/>
          </a:p>
          <a:p>
            <a:r>
              <a:rPr lang="en-US" b="0" i="1" baseline="0" dirty="0"/>
              <a:t>Note: variable names cannot have spaces or special characters. They are like usernames for Instagram or whatever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963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October 21,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/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233982278"/>
      </p:ext>
    </p:extLst>
  </p:cSld>
  <p:clrMapOvr>
    <a:masterClrMapping/>
  </p:clrMapOvr>
  <p:transition>
    <p:fade/>
  </p:transition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 bwMode="auto">
          <a:xfrm>
            <a:off x="9525000" y="0"/>
            <a:ext cx="2667000" cy="6858000"/>
          </a:xfrm>
          <a:prstGeom prst="rect">
            <a:avLst/>
          </a:prstGeom>
          <a:solidFill>
            <a:srgbClr val="EFEFF0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solidFill>
            <a:schemeClr val="accent3"/>
          </a:soli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October 21,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/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292362659"/>
      </p:ext>
    </p:extLst>
  </p:cSld>
  <p:clrMapOvr>
    <a:masterClrMapping/>
  </p:clrMapOvr>
  <p:transition>
    <p:fade/>
  </p:transition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>
            <a:off x="0" y="0"/>
            <a:ext cx="9525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solidFill>
            <a:schemeClr val="bg1"/>
          </a:soli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October 21,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446050400"/>
      </p:ext>
    </p:extLst>
  </p:cSld>
  <p:clrMapOvr>
    <a:masterClrMapping/>
  </p:clrMapOvr>
  <p:transition>
    <p:fade/>
  </p:transition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062162"/>
            <a:ext cx="3429000" cy="2738438"/>
          </a:xfrm>
        </p:spPr>
        <p:txBody>
          <a:bodyPr anchor="ctr">
            <a:normAutofit/>
          </a:bodyPr>
          <a:lstStyle>
            <a:lvl1pPr algn="ctr">
              <a:defRPr sz="4000" baseline="0"/>
            </a:lvl1pPr>
          </a:lstStyle>
          <a:p>
            <a:r>
              <a:rPr lang="en-US" dirty="0"/>
              <a:t>Type “Agenda”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24401" y="2062162"/>
            <a:ext cx="7086599" cy="2738438"/>
          </a:xfrm>
        </p:spPr>
        <p:txBody>
          <a:bodyPr anchor="ctr">
            <a:normAutofit/>
          </a:bodyPr>
          <a:lstStyle>
            <a:lvl1pPr marL="344488" indent="-231775">
              <a:buFont typeface="Wingdings" panose="05000000000000000000" pitchFamily="2" charset="2"/>
              <a:buChar char="§"/>
              <a:defRPr sz="2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Item 1</a:t>
            </a:r>
          </a:p>
          <a:p>
            <a:pPr lvl="0"/>
            <a:r>
              <a:rPr lang="en-US" dirty="0"/>
              <a:t>Item 2</a:t>
            </a:r>
          </a:p>
          <a:p>
            <a:pPr lvl="0"/>
            <a:r>
              <a:rPr lang="en-US" dirty="0"/>
              <a:t>Item 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267200" y="2062162"/>
            <a:ext cx="0" cy="2738438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23962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52600" y="690562"/>
            <a:ext cx="8229600" cy="4110038"/>
          </a:xfrm>
        </p:spPr>
        <p:txBody>
          <a:bodyPr tIns="0" anchor="ctr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Notable Quote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59798" y="4983109"/>
            <a:ext cx="2922402" cy="523220"/>
          </a:xfrm>
          <a:solidFill>
            <a:schemeClr val="tx2"/>
          </a:solidFill>
        </p:spPr>
        <p:txBody>
          <a:bodyPr wrap="none" lIns="91440" tIns="45720" rIns="91440" bIns="45720" anchor="ctr">
            <a:spAutoFit/>
          </a:bodyPr>
          <a:lstStyle>
            <a:lvl1pPr marL="112713" indent="0" algn="r">
              <a:buFont typeface="Wingdings" panose="05000000000000000000" pitchFamily="2" charset="2"/>
              <a:buNone/>
              <a:defRPr sz="2800" b="1" spc="3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– Attribution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10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Freeform 11"/>
          <p:cNvSpPr>
            <a:spLocks noChangeAspect="1"/>
          </p:cNvSpPr>
          <p:nvPr userDrawn="1"/>
        </p:nvSpPr>
        <p:spPr bwMode="auto">
          <a:xfrm>
            <a:off x="380995" y="685800"/>
            <a:ext cx="1055590" cy="914400"/>
          </a:xfrm>
          <a:custGeom>
            <a:avLst/>
            <a:gdLst>
              <a:gd name="connsiteX0" fmla="*/ 831476 w 923645"/>
              <a:gd name="connsiteY0" fmla="*/ 0 h 800100"/>
              <a:gd name="connsiteX1" fmla="*/ 923645 w 923645"/>
              <a:gd name="connsiteY1" fmla="*/ 174531 h 800100"/>
              <a:gd name="connsiteX2" fmla="*/ 767743 w 923645"/>
              <a:gd name="connsiteY2" fmla="*/ 279937 h 800100"/>
              <a:gd name="connsiteX3" fmla="*/ 719698 w 923645"/>
              <a:gd name="connsiteY3" fmla="*/ 403972 h 800100"/>
              <a:gd name="connsiteX4" fmla="*/ 923645 w 923645"/>
              <a:gd name="connsiteY4" fmla="*/ 403972 h 800100"/>
              <a:gd name="connsiteX5" fmla="*/ 923645 w 923645"/>
              <a:gd name="connsiteY5" fmla="*/ 800100 h 800100"/>
              <a:gd name="connsiteX6" fmla="*/ 497121 w 923645"/>
              <a:gd name="connsiteY6" fmla="*/ 800100 h 800100"/>
              <a:gd name="connsiteX7" fmla="*/ 497121 w 923645"/>
              <a:gd name="connsiteY7" fmla="*/ 471628 h 800100"/>
              <a:gd name="connsiteX8" fmla="*/ 572621 w 923645"/>
              <a:gd name="connsiteY8" fmla="*/ 185317 h 800100"/>
              <a:gd name="connsiteX9" fmla="*/ 831476 w 923645"/>
              <a:gd name="connsiteY9" fmla="*/ 0 h 800100"/>
              <a:gd name="connsiteX10" fmla="*/ 334356 w 923645"/>
              <a:gd name="connsiteY10" fmla="*/ 0 h 800100"/>
              <a:gd name="connsiteX11" fmla="*/ 426524 w 923645"/>
              <a:gd name="connsiteY11" fmla="*/ 174531 h 800100"/>
              <a:gd name="connsiteX12" fmla="*/ 270622 w 923645"/>
              <a:gd name="connsiteY12" fmla="*/ 279937 h 800100"/>
              <a:gd name="connsiteX13" fmla="*/ 222577 w 923645"/>
              <a:gd name="connsiteY13" fmla="*/ 403972 h 800100"/>
              <a:gd name="connsiteX14" fmla="*/ 426524 w 923645"/>
              <a:gd name="connsiteY14" fmla="*/ 403972 h 800100"/>
              <a:gd name="connsiteX15" fmla="*/ 426524 w 923645"/>
              <a:gd name="connsiteY15" fmla="*/ 800100 h 800100"/>
              <a:gd name="connsiteX16" fmla="*/ 0 w 923645"/>
              <a:gd name="connsiteY16" fmla="*/ 800100 h 800100"/>
              <a:gd name="connsiteX17" fmla="*/ 0 w 923645"/>
              <a:gd name="connsiteY17" fmla="*/ 471628 h 800100"/>
              <a:gd name="connsiteX18" fmla="*/ 75499 w 923645"/>
              <a:gd name="connsiteY18" fmla="*/ 185317 h 800100"/>
              <a:gd name="connsiteX19" fmla="*/ 334356 w 923645"/>
              <a:gd name="connsiteY19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23645" h="800100">
                <a:moveTo>
                  <a:pt x="831476" y="0"/>
                </a:moveTo>
                <a:lnTo>
                  <a:pt x="923645" y="174531"/>
                </a:lnTo>
                <a:cubicBezTo>
                  <a:pt x="848472" y="209830"/>
                  <a:pt x="796505" y="244966"/>
                  <a:pt x="767743" y="279937"/>
                </a:cubicBezTo>
                <a:cubicBezTo>
                  <a:pt x="738982" y="314909"/>
                  <a:pt x="722966" y="356254"/>
                  <a:pt x="719698" y="403972"/>
                </a:cubicBezTo>
                <a:lnTo>
                  <a:pt x="923645" y="403972"/>
                </a:lnTo>
                <a:lnTo>
                  <a:pt x="923645" y="800100"/>
                </a:lnTo>
                <a:lnTo>
                  <a:pt x="497121" y="800100"/>
                </a:lnTo>
                <a:lnTo>
                  <a:pt x="497121" y="471628"/>
                </a:lnTo>
                <a:cubicBezTo>
                  <a:pt x="497121" y="350697"/>
                  <a:pt x="522288" y="255261"/>
                  <a:pt x="572621" y="185317"/>
                </a:cubicBezTo>
                <a:cubicBezTo>
                  <a:pt x="622954" y="115374"/>
                  <a:pt x="709239" y="53601"/>
                  <a:pt x="831476" y="0"/>
                </a:cubicBezTo>
                <a:close/>
                <a:moveTo>
                  <a:pt x="334356" y="0"/>
                </a:moveTo>
                <a:lnTo>
                  <a:pt x="426524" y="174531"/>
                </a:lnTo>
                <a:cubicBezTo>
                  <a:pt x="351351" y="209830"/>
                  <a:pt x="299384" y="244966"/>
                  <a:pt x="270622" y="279937"/>
                </a:cubicBezTo>
                <a:cubicBezTo>
                  <a:pt x="241860" y="314909"/>
                  <a:pt x="225845" y="356254"/>
                  <a:pt x="222577" y="403972"/>
                </a:cubicBezTo>
                <a:lnTo>
                  <a:pt x="426524" y="403972"/>
                </a:lnTo>
                <a:lnTo>
                  <a:pt x="426524" y="800100"/>
                </a:lnTo>
                <a:lnTo>
                  <a:pt x="0" y="800100"/>
                </a:lnTo>
                <a:lnTo>
                  <a:pt x="0" y="471628"/>
                </a:lnTo>
                <a:cubicBezTo>
                  <a:pt x="0" y="350697"/>
                  <a:pt x="25167" y="255261"/>
                  <a:pt x="75499" y="185317"/>
                </a:cubicBezTo>
                <a:cubicBezTo>
                  <a:pt x="125833" y="115374"/>
                  <a:pt x="212118" y="53601"/>
                  <a:pt x="3343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Freeform 12"/>
          <p:cNvSpPr>
            <a:spLocks noChangeAspect="1"/>
          </p:cNvSpPr>
          <p:nvPr userDrawn="1"/>
        </p:nvSpPr>
        <p:spPr bwMode="auto">
          <a:xfrm>
            <a:off x="10363200" y="3886200"/>
            <a:ext cx="1055590" cy="914400"/>
          </a:xfrm>
          <a:custGeom>
            <a:avLst/>
            <a:gdLst>
              <a:gd name="connsiteX0" fmla="*/ 752200 w 1397580"/>
              <a:gd name="connsiteY0" fmla="*/ 0 h 1210643"/>
              <a:gd name="connsiteX1" fmla="*/ 1397580 w 1397580"/>
              <a:gd name="connsiteY1" fmla="*/ 0 h 1210643"/>
              <a:gd name="connsiteX2" fmla="*/ 1397580 w 1397580"/>
              <a:gd name="connsiteY2" fmla="*/ 497016 h 1210643"/>
              <a:gd name="connsiteX3" fmla="*/ 1283340 w 1397580"/>
              <a:gd name="connsiteY3" fmla="*/ 930978 h 1210643"/>
              <a:gd name="connsiteX4" fmla="*/ 893145 w 1397580"/>
              <a:gd name="connsiteY4" fmla="*/ 1210643 h 1210643"/>
              <a:gd name="connsiteX5" fmla="*/ 752200 w 1397580"/>
              <a:gd name="connsiteY5" fmla="*/ 946556 h 1210643"/>
              <a:gd name="connsiteX6" fmla="*/ 988839 w 1397580"/>
              <a:gd name="connsiteY6" fmla="*/ 787066 h 1210643"/>
              <a:gd name="connsiteX7" fmla="*/ 1060796 w 1397580"/>
              <a:gd name="connsiteY7" fmla="*/ 599387 h 1210643"/>
              <a:gd name="connsiteX8" fmla="*/ 752200 w 1397580"/>
              <a:gd name="connsiteY8" fmla="*/ 599387 h 1210643"/>
              <a:gd name="connsiteX9" fmla="*/ 0 w 1397580"/>
              <a:gd name="connsiteY9" fmla="*/ 0 h 1210643"/>
              <a:gd name="connsiteX10" fmla="*/ 645379 w 1397580"/>
              <a:gd name="connsiteY10" fmla="*/ 0 h 1210643"/>
              <a:gd name="connsiteX11" fmla="*/ 645379 w 1397580"/>
              <a:gd name="connsiteY11" fmla="*/ 497016 h 1210643"/>
              <a:gd name="connsiteX12" fmla="*/ 531140 w 1397580"/>
              <a:gd name="connsiteY12" fmla="*/ 930978 h 1210643"/>
              <a:gd name="connsiteX13" fmla="*/ 140945 w 1397580"/>
              <a:gd name="connsiteY13" fmla="*/ 1210643 h 1210643"/>
              <a:gd name="connsiteX14" fmla="*/ 0 w 1397580"/>
              <a:gd name="connsiteY14" fmla="*/ 946556 h 1210643"/>
              <a:gd name="connsiteX15" fmla="*/ 236639 w 1397580"/>
              <a:gd name="connsiteY15" fmla="*/ 787066 h 1210643"/>
              <a:gd name="connsiteX16" fmla="*/ 308595 w 1397580"/>
              <a:gd name="connsiteY16" fmla="*/ 599387 h 1210643"/>
              <a:gd name="connsiteX17" fmla="*/ 0 w 1397580"/>
              <a:gd name="connsiteY17" fmla="*/ 599387 h 1210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397580" h="1210643">
                <a:moveTo>
                  <a:pt x="752200" y="0"/>
                </a:moveTo>
                <a:lnTo>
                  <a:pt x="1397580" y="0"/>
                </a:lnTo>
                <a:lnTo>
                  <a:pt x="1397580" y="497016"/>
                </a:lnTo>
                <a:cubicBezTo>
                  <a:pt x="1397580" y="679998"/>
                  <a:pt x="1359500" y="824652"/>
                  <a:pt x="1283340" y="930978"/>
                </a:cubicBezTo>
                <a:cubicBezTo>
                  <a:pt x="1207181" y="1037306"/>
                  <a:pt x="1077116" y="1130527"/>
                  <a:pt x="893145" y="1210643"/>
                </a:cubicBezTo>
                <a:lnTo>
                  <a:pt x="752200" y="946556"/>
                </a:lnTo>
                <a:cubicBezTo>
                  <a:pt x="866935" y="893146"/>
                  <a:pt x="945814" y="839983"/>
                  <a:pt x="988839" y="787066"/>
                </a:cubicBezTo>
                <a:cubicBezTo>
                  <a:pt x="1031865" y="734150"/>
                  <a:pt x="1055850" y="671590"/>
                  <a:pt x="1060796" y="599387"/>
                </a:cubicBezTo>
                <a:lnTo>
                  <a:pt x="752200" y="599387"/>
                </a:lnTo>
                <a:close/>
                <a:moveTo>
                  <a:pt x="0" y="0"/>
                </a:moveTo>
                <a:lnTo>
                  <a:pt x="645379" y="0"/>
                </a:lnTo>
                <a:lnTo>
                  <a:pt x="645379" y="497016"/>
                </a:lnTo>
                <a:cubicBezTo>
                  <a:pt x="645379" y="679998"/>
                  <a:pt x="607299" y="824652"/>
                  <a:pt x="531140" y="930978"/>
                </a:cubicBezTo>
                <a:cubicBezTo>
                  <a:pt x="454980" y="1037306"/>
                  <a:pt x="324915" y="1130527"/>
                  <a:pt x="140945" y="1210643"/>
                </a:cubicBezTo>
                <a:lnTo>
                  <a:pt x="0" y="946556"/>
                </a:lnTo>
                <a:cubicBezTo>
                  <a:pt x="114734" y="893146"/>
                  <a:pt x="193614" y="839983"/>
                  <a:pt x="236639" y="787066"/>
                </a:cubicBezTo>
                <a:cubicBezTo>
                  <a:pt x="279664" y="734150"/>
                  <a:pt x="303650" y="671590"/>
                  <a:pt x="308595" y="599387"/>
                </a:cubicBezTo>
                <a:lnTo>
                  <a:pt x="0" y="599387"/>
                </a:ln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91408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C29E-186A-46A5-8C20-9D17D84F1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D2BAF-5F1C-4995-AC68-7251935C0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45817B-0075-4442-8FC5-6345A428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30350-B5AC-4494-8F19-E116B952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2305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D26AC1-0738-4DF2-AD94-A51900A39340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9820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auto">
          <a:xfrm>
            <a:off x="11811000" y="0"/>
            <a:ext cx="381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664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2880"/>
            <a:ext cx="11430000" cy="914400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square" lIns="91440" tIns="45720" bIns="0">
            <a:noAutofit/>
          </a:bodyPr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2029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EBF06C-5074-4EAE-BC2A-F332C3F56963}"/>
              </a:ext>
            </a:extLst>
          </p:cNvPr>
          <p:cNvSpPr/>
          <p:nvPr userDrawn="1"/>
        </p:nvSpPr>
        <p:spPr bwMode="auto">
          <a:xfrm>
            <a:off x="0" y="0"/>
            <a:ext cx="5181600" cy="6858000"/>
          </a:xfrm>
          <a:prstGeom prst="rect">
            <a:avLst/>
          </a:prstGeom>
          <a:solidFill>
            <a:schemeClr val="bg2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2162"/>
            <a:ext cx="4572000" cy="2738438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0200" y="2062162"/>
            <a:ext cx="6400800" cy="2738438"/>
          </a:xfrm>
        </p:spPr>
        <p:txBody>
          <a:bodyPr anchor="ctr">
            <a:normAutofit/>
          </a:bodyPr>
          <a:lstStyle>
            <a:lvl1pPr marL="344488" indent="-231775"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8402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75844" y="274320"/>
            <a:ext cx="11640312" cy="6309360"/>
          </a:xfrm>
          <a:solidFill>
            <a:schemeClr val="accent5"/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43400"/>
            <a:ext cx="10972800" cy="1828800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3598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EBF06C-5074-4EAE-BC2A-F332C3F5696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1120"/>
            <a:ext cx="10972800" cy="1375761"/>
          </a:xfrm>
        </p:spPr>
        <p:txBody>
          <a:bodyPr anchor="ctr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210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5486401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143000"/>
            <a:ext cx="54864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95721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1" y="1143000"/>
            <a:ext cx="3657600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143000"/>
            <a:ext cx="36576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53400" y="1143000"/>
            <a:ext cx="36576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7549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1"/>
            <a:ext cx="11430000" cy="6857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2743200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722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0678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04241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5486400" cy="457200"/>
          </a:xfrm>
          <a:solidFill>
            <a:schemeClr val="accent2"/>
          </a:solidFill>
        </p:spPr>
        <p:txBody>
          <a:bodyPr l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54864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028701"/>
            <a:ext cx="5486398" cy="457200"/>
          </a:xfrm>
          <a:solidFill>
            <a:schemeClr val="accent2"/>
          </a:solidFill>
        </p:spPr>
        <p:txBody>
          <a:bodyPr l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599" y="1600202"/>
            <a:ext cx="5486399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7176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67200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67200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53400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53400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9508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766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766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22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722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67800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67800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29598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8944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Pa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80989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Ligh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1772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Medium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42971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88422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50969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Prima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19670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Secondar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2655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Tertiary">
    <p:bg>
      <p:bgPr>
        <a:solidFill>
          <a:srgbClr val="0058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34866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Gradient">
    <p:bg>
      <p:bgPr>
        <a:gradFill flip="none" rotWithShape="1">
          <a:gsLst>
            <a:gs pos="0">
              <a:schemeClr val="accent2"/>
            </a:gs>
            <a:gs pos="100000">
              <a:schemeClr val="accent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8718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ChangeAspect="1"/>
          </p:cNvGrpSpPr>
          <p:nvPr userDrawn="1"/>
        </p:nvGrpSpPr>
        <p:grpSpPr>
          <a:xfrm>
            <a:off x="4724400" y="2057400"/>
            <a:ext cx="2743200" cy="2743200"/>
            <a:chOff x="4724400" y="2057400"/>
            <a:chExt cx="2743200" cy="27432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2544458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imated 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rapezoid 12">
            <a:extLst>
              <a:ext uri="{FF2B5EF4-FFF2-40B4-BE49-F238E27FC236}">
                <a16:creationId xmlns:a16="http://schemas.microsoft.com/office/drawing/2014/main" id="{5DD5D4CC-621C-41F8-8ABA-55DAA028ECBB}"/>
              </a:ext>
            </a:extLst>
          </p:cNvPr>
          <p:cNvSpPr/>
          <p:nvPr userDrawn="1"/>
        </p:nvSpPr>
        <p:spPr>
          <a:xfrm rot="10800000">
            <a:off x="4724400" y="4191000"/>
            <a:ext cx="2743200" cy="609600"/>
          </a:xfrm>
          <a:prstGeom prst="trapezoid">
            <a:avLst>
              <a:gd name="adj" fmla="val 1174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grpSp>
        <p:nvGrpSpPr>
          <p:cNvPr id="2" name="Group 1"/>
          <p:cNvGrpSpPr>
            <a:grpSpLocks noChangeAspect="1"/>
          </p:cNvGrpSpPr>
          <p:nvPr userDrawn="1"/>
        </p:nvGrpSpPr>
        <p:grpSpPr>
          <a:xfrm>
            <a:off x="4724400" y="2057400"/>
            <a:ext cx="2743200" cy="2743200"/>
            <a:chOff x="4724400" y="2057400"/>
            <a:chExt cx="2743200" cy="27432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31993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79028 L 5.55112E-17 0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951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7007 L 0 0.0444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24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00000" y="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1"/>
          <p:cNvSpPr>
            <a:spLocks noEditPoints="1"/>
          </p:cNvSpPr>
          <p:nvPr userDrawn="1"/>
        </p:nvSpPr>
        <p:spPr bwMode="auto">
          <a:xfrm>
            <a:off x="5155469" y="3117914"/>
            <a:ext cx="1881062" cy="622172"/>
          </a:xfrm>
          <a:custGeom>
            <a:avLst/>
            <a:gdLst>
              <a:gd name="T0" fmla="*/ 0 w 1119"/>
              <a:gd name="T1" fmla="*/ 30 h 369"/>
              <a:gd name="T2" fmla="*/ 62 w 1119"/>
              <a:gd name="T3" fmla="*/ 32 h 369"/>
              <a:gd name="T4" fmla="*/ 166 w 1119"/>
              <a:gd name="T5" fmla="*/ 30 h 369"/>
              <a:gd name="T6" fmla="*/ 228 w 1119"/>
              <a:gd name="T7" fmla="*/ 32 h 369"/>
              <a:gd name="T8" fmla="*/ 165 w 1119"/>
              <a:gd name="T9" fmla="*/ 280 h 369"/>
              <a:gd name="T10" fmla="*/ 62 w 1119"/>
              <a:gd name="T11" fmla="*/ 160 h 369"/>
              <a:gd name="T12" fmla="*/ 0 w 1119"/>
              <a:gd name="T13" fmla="*/ 280 h 369"/>
              <a:gd name="T14" fmla="*/ 285 w 1119"/>
              <a:gd name="T15" fmla="*/ 340 h 369"/>
              <a:gd name="T16" fmla="*/ 340 w 1119"/>
              <a:gd name="T17" fmla="*/ 280 h 369"/>
              <a:gd name="T18" fmla="*/ 246 w 1119"/>
              <a:gd name="T19" fmla="*/ 87 h 369"/>
              <a:gd name="T20" fmla="*/ 341 w 1119"/>
              <a:gd name="T21" fmla="*/ 225 h 369"/>
              <a:gd name="T22" fmla="*/ 371 w 1119"/>
              <a:gd name="T23" fmla="*/ 106 h 369"/>
              <a:gd name="T24" fmla="*/ 426 w 1119"/>
              <a:gd name="T25" fmla="*/ 108 h 369"/>
              <a:gd name="T26" fmla="*/ 372 w 1119"/>
              <a:gd name="T27" fmla="*/ 264 h 369"/>
              <a:gd name="T28" fmla="*/ 335 w 1119"/>
              <a:gd name="T29" fmla="*/ 342 h 369"/>
              <a:gd name="T30" fmla="*/ 281 w 1119"/>
              <a:gd name="T31" fmla="*/ 369 h 369"/>
              <a:gd name="T32" fmla="*/ 271 w 1119"/>
              <a:gd name="T33" fmla="*/ 339 h 369"/>
              <a:gd name="T34" fmla="*/ 437 w 1119"/>
              <a:gd name="T35" fmla="*/ 22 h 369"/>
              <a:gd name="T36" fmla="*/ 498 w 1119"/>
              <a:gd name="T37" fmla="*/ 262 h 369"/>
              <a:gd name="T38" fmla="*/ 435 w 1119"/>
              <a:gd name="T39" fmla="*/ 266 h 369"/>
              <a:gd name="T40" fmla="*/ 575 w 1119"/>
              <a:gd name="T41" fmla="*/ 177 h 369"/>
              <a:gd name="T42" fmla="*/ 641 w 1119"/>
              <a:gd name="T43" fmla="*/ 151 h 369"/>
              <a:gd name="T44" fmla="*/ 593 w 1119"/>
              <a:gd name="T45" fmla="*/ 107 h 369"/>
              <a:gd name="T46" fmla="*/ 543 w 1119"/>
              <a:gd name="T47" fmla="*/ 120 h 369"/>
              <a:gd name="T48" fmla="*/ 590 w 1119"/>
              <a:gd name="T49" fmla="*/ 85 h 369"/>
              <a:gd name="T50" fmla="*/ 668 w 1119"/>
              <a:gd name="T51" fmla="*/ 116 h 369"/>
              <a:gd name="T52" fmla="*/ 696 w 1119"/>
              <a:gd name="T53" fmla="*/ 277 h 369"/>
              <a:gd name="T54" fmla="*/ 650 w 1119"/>
              <a:gd name="T55" fmla="*/ 282 h 369"/>
              <a:gd name="T56" fmla="*/ 633 w 1119"/>
              <a:gd name="T57" fmla="*/ 271 h 369"/>
              <a:gd name="T58" fmla="*/ 561 w 1119"/>
              <a:gd name="T59" fmla="*/ 279 h 369"/>
              <a:gd name="T60" fmla="*/ 563 w 1119"/>
              <a:gd name="T61" fmla="*/ 225 h 369"/>
              <a:gd name="T62" fmla="*/ 604 w 1119"/>
              <a:gd name="T63" fmla="*/ 262 h 369"/>
              <a:gd name="T64" fmla="*/ 640 w 1119"/>
              <a:gd name="T65" fmla="*/ 248 h 369"/>
              <a:gd name="T66" fmla="*/ 608 w 1119"/>
              <a:gd name="T67" fmla="*/ 187 h 369"/>
              <a:gd name="T68" fmla="*/ 563 w 1119"/>
              <a:gd name="T69" fmla="*/ 225 h 369"/>
              <a:gd name="T70" fmla="*/ 701 w 1119"/>
              <a:gd name="T71" fmla="*/ 108 h 369"/>
              <a:gd name="T72" fmla="*/ 754 w 1119"/>
              <a:gd name="T73" fmla="*/ 112 h 369"/>
              <a:gd name="T74" fmla="*/ 824 w 1119"/>
              <a:gd name="T75" fmla="*/ 84 h 369"/>
              <a:gd name="T76" fmla="*/ 881 w 1119"/>
              <a:gd name="T77" fmla="*/ 165 h 369"/>
              <a:gd name="T78" fmla="*/ 822 w 1119"/>
              <a:gd name="T79" fmla="*/ 280 h 369"/>
              <a:gd name="T80" fmla="*/ 846 w 1119"/>
              <a:gd name="T81" fmla="*/ 143 h 369"/>
              <a:gd name="T82" fmla="*/ 783 w 1119"/>
              <a:gd name="T83" fmla="*/ 114 h 369"/>
              <a:gd name="T84" fmla="*/ 784 w 1119"/>
              <a:gd name="T85" fmla="*/ 280 h 369"/>
              <a:gd name="T86" fmla="*/ 947 w 1119"/>
              <a:gd name="T87" fmla="*/ 279 h 369"/>
              <a:gd name="T88" fmla="*/ 908 w 1119"/>
              <a:gd name="T89" fmla="*/ 144 h 369"/>
              <a:gd name="T90" fmla="*/ 1018 w 1119"/>
              <a:gd name="T91" fmla="*/ 83 h 369"/>
              <a:gd name="T92" fmla="*/ 996 w 1119"/>
              <a:gd name="T93" fmla="*/ 7 h 369"/>
              <a:gd name="T94" fmla="*/ 1089 w 1119"/>
              <a:gd name="T95" fmla="*/ 266 h 369"/>
              <a:gd name="T96" fmla="*/ 1062 w 1119"/>
              <a:gd name="T97" fmla="*/ 285 h 369"/>
              <a:gd name="T98" fmla="*/ 1035 w 1119"/>
              <a:gd name="T99" fmla="*/ 278 h 369"/>
              <a:gd name="T100" fmla="*/ 1014 w 1119"/>
              <a:gd name="T101" fmla="*/ 277 h 369"/>
              <a:gd name="T102" fmla="*/ 999 w 1119"/>
              <a:gd name="T103" fmla="*/ 260 h 369"/>
              <a:gd name="T104" fmla="*/ 1032 w 1119"/>
              <a:gd name="T105" fmla="*/ 114 h 369"/>
              <a:gd name="T106" fmla="*/ 996 w 1119"/>
              <a:gd name="T107" fmla="*/ 100 h 369"/>
              <a:gd name="T108" fmla="*/ 944 w 1119"/>
              <a:gd name="T109" fmla="*/ 132 h 369"/>
              <a:gd name="T110" fmla="*/ 950 w 1119"/>
              <a:gd name="T111" fmla="*/ 241 h 369"/>
              <a:gd name="T112" fmla="*/ 1119 w 1119"/>
              <a:gd name="T113" fmla="*/ 21 h 369"/>
              <a:gd name="T114" fmla="*/ 1098 w 1119"/>
              <a:gd name="T115" fmla="*/ 39 h 369"/>
              <a:gd name="T116" fmla="*/ 1098 w 1119"/>
              <a:gd name="T117" fmla="*/ 39 h 369"/>
              <a:gd name="T118" fmla="*/ 1101 w 1119"/>
              <a:gd name="T119" fmla="*/ 23 h 369"/>
              <a:gd name="T120" fmla="*/ 1094 w 1119"/>
              <a:gd name="T121" fmla="*/ 23 h 369"/>
              <a:gd name="T122" fmla="*/ 1094 w 1119"/>
              <a:gd name="T123" fmla="*/ 20 h 369"/>
              <a:gd name="T124" fmla="*/ 1094 w 1119"/>
              <a:gd name="T125" fmla="*/ 12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19" h="369">
                <a:moveTo>
                  <a:pt x="0" y="266"/>
                </a:moveTo>
                <a:cubicBezTo>
                  <a:pt x="29" y="260"/>
                  <a:pt x="29" y="260"/>
                  <a:pt x="29" y="260"/>
                </a:cubicBezTo>
                <a:cubicBezTo>
                  <a:pt x="29" y="33"/>
                  <a:pt x="29" y="33"/>
                  <a:pt x="29" y="33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13"/>
                  <a:pt x="0" y="13"/>
                  <a:pt x="0" y="13"/>
                </a:cubicBezTo>
                <a:cubicBezTo>
                  <a:pt x="90" y="13"/>
                  <a:pt x="90" y="13"/>
                  <a:pt x="90" y="13"/>
                </a:cubicBezTo>
                <a:cubicBezTo>
                  <a:pt x="90" y="30"/>
                  <a:pt x="90" y="30"/>
                  <a:pt x="90" y="30"/>
                </a:cubicBezTo>
                <a:cubicBezTo>
                  <a:pt x="62" y="32"/>
                  <a:pt x="62" y="32"/>
                  <a:pt x="62" y="32"/>
                </a:cubicBezTo>
                <a:cubicBezTo>
                  <a:pt x="62" y="140"/>
                  <a:pt x="62" y="140"/>
                  <a:pt x="62" y="140"/>
                </a:cubicBezTo>
                <a:cubicBezTo>
                  <a:pt x="194" y="140"/>
                  <a:pt x="194" y="140"/>
                  <a:pt x="194" y="140"/>
                </a:cubicBezTo>
                <a:cubicBezTo>
                  <a:pt x="194" y="32"/>
                  <a:pt x="194" y="32"/>
                  <a:pt x="194" y="32"/>
                </a:cubicBezTo>
                <a:cubicBezTo>
                  <a:pt x="166" y="30"/>
                  <a:pt x="166" y="30"/>
                  <a:pt x="166" y="30"/>
                </a:cubicBezTo>
                <a:cubicBezTo>
                  <a:pt x="166" y="13"/>
                  <a:pt x="166" y="13"/>
                  <a:pt x="166" y="13"/>
                </a:cubicBezTo>
                <a:cubicBezTo>
                  <a:pt x="256" y="13"/>
                  <a:pt x="256" y="13"/>
                  <a:pt x="256" y="13"/>
                </a:cubicBezTo>
                <a:cubicBezTo>
                  <a:pt x="256" y="30"/>
                  <a:pt x="256" y="30"/>
                  <a:pt x="256" y="30"/>
                </a:cubicBezTo>
                <a:cubicBezTo>
                  <a:pt x="228" y="32"/>
                  <a:pt x="228" y="32"/>
                  <a:pt x="228" y="32"/>
                </a:cubicBezTo>
                <a:cubicBezTo>
                  <a:pt x="228" y="260"/>
                  <a:pt x="228" y="260"/>
                  <a:pt x="228" y="260"/>
                </a:cubicBezTo>
                <a:cubicBezTo>
                  <a:pt x="257" y="266"/>
                  <a:pt x="257" y="266"/>
                  <a:pt x="257" y="266"/>
                </a:cubicBezTo>
                <a:cubicBezTo>
                  <a:pt x="257" y="280"/>
                  <a:pt x="257" y="280"/>
                  <a:pt x="257" y="280"/>
                </a:cubicBezTo>
                <a:cubicBezTo>
                  <a:pt x="165" y="280"/>
                  <a:pt x="165" y="280"/>
                  <a:pt x="165" y="280"/>
                </a:cubicBezTo>
                <a:cubicBezTo>
                  <a:pt x="165" y="266"/>
                  <a:pt x="165" y="266"/>
                  <a:pt x="165" y="266"/>
                </a:cubicBezTo>
                <a:cubicBezTo>
                  <a:pt x="194" y="261"/>
                  <a:pt x="194" y="261"/>
                  <a:pt x="194" y="261"/>
                </a:cubicBezTo>
                <a:cubicBezTo>
                  <a:pt x="194" y="160"/>
                  <a:pt x="194" y="160"/>
                  <a:pt x="194" y="160"/>
                </a:cubicBezTo>
                <a:cubicBezTo>
                  <a:pt x="62" y="160"/>
                  <a:pt x="62" y="160"/>
                  <a:pt x="62" y="160"/>
                </a:cubicBezTo>
                <a:cubicBezTo>
                  <a:pt x="62" y="260"/>
                  <a:pt x="62" y="260"/>
                  <a:pt x="62" y="260"/>
                </a:cubicBezTo>
                <a:cubicBezTo>
                  <a:pt x="92" y="266"/>
                  <a:pt x="92" y="266"/>
                  <a:pt x="92" y="266"/>
                </a:cubicBezTo>
                <a:cubicBezTo>
                  <a:pt x="92" y="280"/>
                  <a:pt x="92" y="280"/>
                  <a:pt x="92" y="280"/>
                </a:cubicBezTo>
                <a:cubicBezTo>
                  <a:pt x="0" y="280"/>
                  <a:pt x="0" y="280"/>
                  <a:pt x="0" y="280"/>
                </a:cubicBezTo>
                <a:lnTo>
                  <a:pt x="0" y="266"/>
                </a:lnTo>
                <a:close/>
                <a:moveTo>
                  <a:pt x="271" y="339"/>
                </a:moveTo>
                <a:cubicBezTo>
                  <a:pt x="273" y="339"/>
                  <a:pt x="275" y="340"/>
                  <a:pt x="278" y="340"/>
                </a:cubicBezTo>
                <a:cubicBezTo>
                  <a:pt x="280" y="340"/>
                  <a:pt x="283" y="340"/>
                  <a:pt x="285" y="340"/>
                </a:cubicBezTo>
                <a:cubicBezTo>
                  <a:pt x="289" y="340"/>
                  <a:pt x="293" y="340"/>
                  <a:pt x="298" y="338"/>
                </a:cubicBezTo>
                <a:cubicBezTo>
                  <a:pt x="303" y="337"/>
                  <a:pt x="308" y="334"/>
                  <a:pt x="313" y="330"/>
                </a:cubicBezTo>
                <a:cubicBezTo>
                  <a:pt x="318" y="325"/>
                  <a:pt x="323" y="319"/>
                  <a:pt x="327" y="311"/>
                </a:cubicBezTo>
                <a:cubicBezTo>
                  <a:pt x="332" y="303"/>
                  <a:pt x="336" y="293"/>
                  <a:pt x="340" y="280"/>
                </a:cubicBezTo>
                <a:cubicBezTo>
                  <a:pt x="333" y="280"/>
                  <a:pt x="333" y="280"/>
                  <a:pt x="333" y="280"/>
                </a:cubicBezTo>
                <a:cubicBezTo>
                  <a:pt x="263" y="109"/>
                  <a:pt x="263" y="109"/>
                  <a:pt x="263" y="109"/>
                </a:cubicBezTo>
                <a:cubicBezTo>
                  <a:pt x="246" y="106"/>
                  <a:pt x="246" y="106"/>
                  <a:pt x="246" y="106"/>
                </a:cubicBezTo>
                <a:cubicBezTo>
                  <a:pt x="246" y="87"/>
                  <a:pt x="246" y="87"/>
                  <a:pt x="246" y="87"/>
                </a:cubicBezTo>
                <a:cubicBezTo>
                  <a:pt x="325" y="87"/>
                  <a:pt x="325" y="87"/>
                  <a:pt x="325" y="87"/>
                </a:cubicBezTo>
                <a:cubicBezTo>
                  <a:pt x="325" y="106"/>
                  <a:pt x="325" y="106"/>
                  <a:pt x="325" y="106"/>
                </a:cubicBezTo>
                <a:cubicBezTo>
                  <a:pt x="300" y="109"/>
                  <a:pt x="300" y="109"/>
                  <a:pt x="300" y="109"/>
                </a:cubicBezTo>
                <a:cubicBezTo>
                  <a:pt x="341" y="225"/>
                  <a:pt x="341" y="225"/>
                  <a:pt x="341" y="225"/>
                </a:cubicBezTo>
                <a:cubicBezTo>
                  <a:pt x="352" y="260"/>
                  <a:pt x="352" y="260"/>
                  <a:pt x="352" y="260"/>
                </a:cubicBezTo>
                <a:cubicBezTo>
                  <a:pt x="362" y="225"/>
                  <a:pt x="362" y="225"/>
                  <a:pt x="362" y="225"/>
                </a:cubicBezTo>
                <a:cubicBezTo>
                  <a:pt x="397" y="109"/>
                  <a:pt x="397" y="109"/>
                  <a:pt x="397" y="109"/>
                </a:cubicBezTo>
                <a:cubicBezTo>
                  <a:pt x="371" y="106"/>
                  <a:pt x="371" y="106"/>
                  <a:pt x="371" y="106"/>
                </a:cubicBezTo>
                <a:cubicBezTo>
                  <a:pt x="371" y="87"/>
                  <a:pt x="371" y="87"/>
                  <a:pt x="371" y="87"/>
                </a:cubicBezTo>
                <a:cubicBezTo>
                  <a:pt x="445" y="87"/>
                  <a:pt x="445" y="87"/>
                  <a:pt x="445" y="87"/>
                </a:cubicBezTo>
                <a:cubicBezTo>
                  <a:pt x="445" y="106"/>
                  <a:pt x="445" y="106"/>
                  <a:pt x="445" y="106"/>
                </a:cubicBezTo>
                <a:cubicBezTo>
                  <a:pt x="426" y="108"/>
                  <a:pt x="426" y="108"/>
                  <a:pt x="426" y="108"/>
                </a:cubicBezTo>
                <a:cubicBezTo>
                  <a:pt x="418" y="131"/>
                  <a:pt x="411" y="150"/>
                  <a:pt x="405" y="167"/>
                </a:cubicBezTo>
                <a:cubicBezTo>
                  <a:pt x="400" y="184"/>
                  <a:pt x="395" y="199"/>
                  <a:pt x="390" y="211"/>
                </a:cubicBezTo>
                <a:cubicBezTo>
                  <a:pt x="386" y="223"/>
                  <a:pt x="382" y="234"/>
                  <a:pt x="379" y="243"/>
                </a:cubicBezTo>
                <a:cubicBezTo>
                  <a:pt x="376" y="251"/>
                  <a:pt x="374" y="258"/>
                  <a:pt x="372" y="264"/>
                </a:cubicBezTo>
                <a:cubicBezTo>
                  <a:pt x="370" y="270"/>
                  <a:pt x="368" y="274"/>
                  <a:pt x="367" y="278"/>
                </a:cubicBezTo>
                <a:cubicBezTo>
                  <a:pt x="365" y="282"/>
                  <a:pt x="364" y="284"/>
                  <a:pt x="363" y="287"/>
                </a:cubicBezTo>
                <a:cubicBezTo>
                  <a:pt x="359" y="298"/>
                  <a:pt x="354" y="309"/>
                  <a:pt x="350" y="318"/>
                </a:cubicBezTo>
                <a:cubicBezTo>
                  <a:pt x="345" y="327"/>
                  <a:pt x="340" y="335"/>
                  <a:pt x="335" y="342"/>
                </a:cubicBezTo>
                <a:cubicBezTo>
                  <a:pt x="330" y="348"/>
                  <a:pt x="325" y="354"/>
                  <a:pt x="319" y="358"/>
                </a:cubicBezTo>
                <a:cubicBezTo>
                  <a:pt x="313" y="362"/>
                  <a:pt x="307" y="365"/>
                  <a:pt x="300" y="367"/>
                </a:cubicBezTo>
                <a:cubicBezTo>
                  <a:pt x="295" y="368"/>
                  <a:pt x="290" y="369"/>
                  <a:pt x="285" y="369"/>
                </a:cubicBezTo>
                <a:cubicBezTo>
                  <a:pt x="283" y="369"/>
                  <a:pt x="282" y="369"/>
                  <a:pt x="281" y="369"/>
                </a:cubicBezTo>
                <a:cubicBezTo>
                  <a:pt x="279" y="369"/>
                  <a:pt x="278" y="368"/>
                  <a:pt x="277" y="368"/>
                </a:cubicBezTo>
                <a:cubicBezTo>
                  <a:pt x="275" y="368"/>
                  <a:pt x="274" y="368"/>
                  <a:pt x="273" y="367"/>
                </a:cubicBezTo>
                <a:cubicBezTo>
                  <a:pt x="272" y="367"/>
                  <a:pt x="271" y="367"/>
                  <a:pt x="271" y="366"/>
                </a:cubicBezTo>
                <a:lnTo>
                  <a:pt x="271" y="339"/>
                </a:lnTo>
                <a:close/>
                <a:moveTo>
                  <a:pt x="435" y="266"/>
                </a:moveTo>
                <a:cubicBezTo>
                  <a:pt x="465" y="262"/>
                  <a:pt x="465" y="262"/>
                  <a:pt x="465" y="262"/>
                </a:cubicBezTo>
                <a:cubicBezTo>
                  <a:pt x="465" y="29"/>
                  <a:pt x="465" y="29"/>
                  <a:pt x="465" y="29"/>
                </a:cubicBezTo>
                <a:cubicBezTo>
                  <a:pt x="437" y="22"/>
                  <a:pt x="437" y="22"/>
                  <a:pt x="437" y="22"/>
                </a:cubicBezTo>
                <a:cubicBezTo>
                  <a:pt x="437" y="7"/>
                  <a:pt x="437" y="7"/>
                  <a:pt x="437" y="7"/>
                </a:cubicBezTo>
                <a:cubicBezTo>
                  <a:pt x="491" y="0"/>
                  <a:pt x="491" y="0"/>
                  <a:pt x="491" y="0"/>
                </a:cubicBezTo>
                <a:cubicBezTo>
                  <a:pt x="498" y="4"/>
                  <a:pt x="498" y="4"/>
                  <a:pt x="498" y="4"/>
                </a:cubicBezTo>
                <a:cubicBezTo>
                  <a:pt x="498" y="262"/>
                  <a:pt x="498" y="262"/>
                  <a:pt x="498" y="262"/>
                </a:cubicBezTo>
                <a:cubicBezTo>
                  <a:pt x="529" y="266"/>
                  <a:pt x="529" y="266"/>
                  <a:pt x="529" y="266"/>
                </a:cubicBezTo>
                <a:cubicBezTo>
                  <a:pt x="529" y="280"/>
                  <a:pt x="529" y="280"/>
                  <a:pt x="529" y="280"/>
                </a:cubicBezTo>
                <a:cubicBezTo>
                  <a:pt x="435" y="280"/>
                  <a:pt x="435" y="280"/>
                  <a:pt x="435" y="280"/>
                </a:cubicBezTo>
                <a:lnTo>
                  <a:pt x="435" y="266"/>
                </a:lnTo>
                <a:close/>
                <a:moveTo>
                  <a:pt x="530" y="225"/>
                </a:moveTo>
                <a:cubicBezTo>
                  <a:pt x="530" y="217"/>
                  <a:pt x="533" y="210"/>
                  <a:pt x="537" y="204"/>
                </a:cubicBezTo>
                <a:cubicBezTo>
                  <a:pt x="542" y="198"/>
                  <a:pt x="547" y="192"/>
                  <a:pt x="553" y="188"/>
                </a:cubicBezTo>
                <a:cubicBezTo>
                  <a:pt x="560" y="184"/>
                  <a:pt x="567" y="180"/>
                  <a:pt x="575" y="177"/>
                </a:cubicBezTo>
                <a:cubicBezTo>
                  <a:pt x="583" y="174"/>
                  <a:pt x="591" y="172"/>
                  <a:pt x="599" y="170"/>
                </a:cubicBezTo>
                <a:cubicBezTo>
                  <a:pt x="607" y="169"/>
                  <a:pt x="614" y="167"/>
                  <a:pt x="622" y="167"/>
                </a:cubicBezTo>
                <a:cubicBezTo>
                  <a:pt x="629" y="166"/>
                  <a:pt x="635" y="166"/>
                  <a:pt x="641" y="166"/>
                </a:cubicBezTo>
                <a:cubicBezTo>
                  <a:pt x="641" y="151"/>
                  <a:pt x="641" y="151"/>
                  <a:pt x="641" y="151"/>
                </a:cubicBezTo>
                <a:cubicBezTo>
                  <a:pt x="641" y="142"/>
                  <a:pt x="639" y="134"/>
                  <a:pt x="637" y="128"/>
                </a:cubicBezTo>
                <a:cubicBezTo>
                  <a:pt x="635" y="123"/>
                  <a:pt x="631" y="118"/>
                  <a:pt x="627" y="115"/>
                </a:cubicBezTo>
                <a:cubicBezTo>
                  <a:pt x="623" y="112"/>
                  <a:pt x="618" y="110"/>
                  <a:pt x="612" y="109"/>
                </a:cubicBezTo>
                <a:cubicBezTo>
                  <a:pt x="606" y="107"/>
                  <a:pt x="600" y="107"/>
                  <a:pt x="593" y="107"/>
                </a:cubicBezTo>
                <a:cubicBezTo>
                  <a:pt x="590" y="107"/>
                  <a:pt x="586" y="107"/>
                  <a:pt x="582" y="108"/>
                </a:cubicBezTo>
                <a:cubicBezTo>
                  <a:pt x="578" y="108"/>
                  <a:pt x="574" y="109"/>
                  <a:pt x="569" y="110"/>
                </a:cubicBezTo>
                <a:cubicBezTo>
                  <a:pt x="565" y="112"/>
                  <a:pt x="561" y="113"/>
                  <a:pt x="556" y="115"/>
                </a:cubicBezTo>
                <a:cubicBezTo>
                  <a:pt x="552" y="116"/>
                  <a:pt x="547" y="118"/>
                  <a:pt x="543" y="120"/>
                </a:cubicBezTo>
                <a:cubicBezTo>
                  <a:pt x="537" y="104"/>
                  <a:pt x="537" y="104"/>
                  <a:pt x="537" y="104"/>
                </a:cubicBezTo>
                <a:cubicBezTo>
                  <a:pt x="541" y="101"/>
                  <a:pt x="546" y="98"/>
                  <a:pt x="553" y="95"/>
                </a:cubicBezTo>
                <a:cubicBezTo>
                  <a:pt x="559" y="93"/>
                  <a:pt x="565" y="91"/>
                  <a:pt x="572" y="89"/>
                </a:cubicBezTo>
                <a:cubicBezTo>
                  <a:pt x="578" y="87"/>
                  <a:pt x="584" y="86"/>
                  <a:pt x="590" y="85"/>
                </a:cubicBezTo>
                <a:cubicBezTo>
                  <a:pt x="597" y="84"/>
                  <a:pt x="602" y="84"/>
                  <a:pt x="606" y="84"/>
                </a:cubicBezTo>
                <a:cubicBezTo>
                  <a:pt x="615" y="84"/>
                  <a:pt x="624" y="85"/>
                  <a:pt x="632" y="87"/>
                </a:cubicBezTo>
                <a:cubicBezTo>
                  <a:pt x="640" y="89"/>
                  <a:pt x="648" y="92"/>
                  <a:pt x="654" y="97"/>
                </a:cubicBezTo>
                <a:cubicBezTo>
                  <a:pt x="660" y="102"/>
                  <a:pt x="665" y="108"/>
                  <a:pt x="668" y="116"/>
                </a:cubicBezTo>
                <a:cubicBezTo>
                  <a:pt x="672" y="124"/>
                  <a:pt x="674" y="134"/>
                  <a:pt x="674" y="147"/>
                </a:cubicBezTo>
                <a:cubicBezTo>
                  <a:pt x="674" y="266"/>
                  <a:pt x="674" y="266"/>
                  <a:pt x="674" y="266"/>
                </a:cubicBezTo>
                <a:cubicBezTo>
                  <a:pt x="696" y="266"/>
                  <a:pt x="696" y="266"/>
                  <a:pt x="696" y="266"/>
                </a:cubicBezTo>
                <a:cubicBezTo>
                  <a:pt x="696" y="277"/>
                  <a:pt x="696" y="277"/>
                  <a:pt x="696" y="277"/>
                </a:cubicBezTo>
                <a:cubicBezTo>
                  <a:pt x="692" y="279"/>
                  <a:pt x="687" y="281"/>
                  <a:pt x="681" y="282"/>
                </a:cubicBezTo>
                <a:cubicBezTo>
                  <a:pt x="675" y="284"/>
                  <a:pt x="669" y="284"/>
                  <a:pt x="663" y="284"/>
                </a:cubicBezTo>
                <a:cubicBezTo>
                  <a:pt x="661" y="284"/>
                  <a:pt x="659" y="284"/>
                  <a:pt x="656" y="284"/>
                </a:cubicBezTo>
                <a:cubicBezTo>
                  <a:pt x="654" y="284"/>
                  <a:pt x="652" y="283"/>
                  <a:pt x="650" y="282"/>
                </a:cubicBezTo>
                <a:cubicBezTo>
                  <a:pt x="648" y="281"/>
                  <a:pt x="646" y="279"/>
                  <a:pt x="645" y="276"/>
                </a:cubicBezTo>
                <a:cubicBezTo>
                  <a:pt x="643" y="274"/>
                  <a:pt x="643" y="271"/>
                  <a:pt x="643" y="266"/>
                </a:cubicBezTo>
                <a:cubicBezTo>
                  <a:pt x="643" y="262"/>
                  <a:pt x="643" y="262"/>
                  <a:pt x="643" y="262"/>
                </a:cubicBezTo>
                <a:cubicBezTo>
                  <a:pt x="640" y="265"/>
                  <a:pt x="637" y="268"/>
                  <a:pt x="633" y="271"/>
                </a:cubicBezTo>
                <a:cubicBezTo>
                  <a:pt x="630" y="273"/>
                  <a:pt x="625" y="276"/>
                  <a:pt x="621" y="278"/>
                </a:cubicBezTo>
                <a:cubicBezTo>
                  <a:pt x="616" y="280"/>
                  <a:pt x="611" y="281"/>
                  <a:pt x="605" y="283"/>
                </a:cubicBezTo>
                <a:cubicBezTo>
                  <a:pt x="599" y="284"/>
                  <a:pt x="592" y="284"/>
                  <a:pt x="585" y="284"/>
                </a:cubicBezTo>
                <a:cubicBezTo>
                  <a:pt x="576" y="284"/>
                  <a:pt x="568" y="283"/>
                  <a:pt x="561" y="279"/>
                </a:cubicBezTo>
                <a:cubicBezTo>
                  <a:pt x="554" y="276"/>
                  <a:pt x="547" y="272"/>
                  <a:pt x="543" y="266"/>
                </a:cubicBezTo>
                <a:cubicBezTo>
                  <a:pt x="538" y="261"/>
                  <a:pt x="534" y="255"/>
                  <a:pt x="532" y="248"/>
                </a:cubicBezTo>
                <a:cubicBezTo>
                  <a:pt x="529" y="240"/>
                  <a:pt x="529" y="233"/>
                  <a:pt x="530" y="225"/>
                </a:cubicBezTo>
                <a:close/>
                <a:moveTo>
                  <a:pt x="563" y="225"/>
                </a:moveTo>
                <a:cubicBezTo>
                  <a:pt x="563" y="232"/>
                  <a:pt x="564" y="238"/>
                  <a:pt x="566" y="243"/>
                </a:cubicBezTo>
                <a:cubicBezTo>
                  <a:pt x="568" y="247"/>
                  <a:pt x="570" y="251"/>
                  <a:pt x="574" y="254"/>
                </a:cubicBezTo>
                <a:cubicBezTo>
                  <a:pt x="577" y="257"/>
                  <a:pt x="582" y="259"/>
                  <a:pt x="587" y="260"/>
                </a:cubicBezTo>
                <a:cubicBezTo>
                  <a:pt x="592" y="262"/>
                  <a:pt x="597" y="262"/>
                  <a:pt x="604" y="262"/>
                </a:cubicBezTo>
                <a:cubicBezTo>
                  <a:pt x="607" y="262"/>
                  <a:pt x="611" y="262"/>
                  <a:pt x="614" y="261"/>
                </a:cubicBezTo>
                <a:cubicBezTo>
                  <a:pt x="618" y="260"/>
                  <a:pt x="621" y="259"/>
                  <a:pt x="624" y="258"/>
                </a:cubicBezTo>
                <a:cubicBezTo>
                  <a:pt x="628" y="256"/>
                  <a:pt x="631" y="255"/>
                  <a:pt x="634" y="253"/>
                </a:cubicBezTo>
                <a:cubicBezTo>
                  <a:pt x="636" y="251"/>
                  <a:pt x="639" y="249"/>
                  <a:pt x="640" y="248"/>
                </a:cubicBezTo>
                <a:cubicBezTo>
                  <a:pt x="640" y="237"/>
                  <a:pt x="640" y="226"/>
                  <a:pt x="640" y="215"/>
                </a:cubicBezTo>
                <a:cubicBezTo>
                  <a:pt x="640" y="205"/>
                  <a:pt x="641" y="194"/>
                  <a:pt x="641" y="183"/>
                </a:cubicBezTo>
                <a:cubicBezTo>
                  <a:pt x="636" y="183"/>
                  <a:pt x="631" y="184"/>
                  <a:pt x="625" y="184"/>
                </a:cubicBezTo>
                <a:cubicBezTo>
                  <a:pt x="619" y="185"/>
                  <a:pt x="613" y="186"/>
                  <a:pt x="608" y="187"/>
                </a:cubicBezTo>
                <a:cubicBezTo>
                  <a:pt x="602" y="188"/>
                  <a:pt x="596" y="190"/>
                  <a:pt x="591" y="192"/>
                </a:cubicBezTo>
                <a:cubicBezTo>
                  <a:pt x="585" y="194"/>
                  <a:pt x="581" y="196"/>
                  <a:pt x="577" y="200"/>
                </a:cubicBezTo>
                <a:cubicBezTo>
                  <a:pt x="572" y="203"/>
                  <a:pt x="569" y="206"/>
                  <a:pt x="567" y="211"/>
                </a:cubicBezTo>
                <a:cubicBezTo>
                  <a:pt x="564" y="215"/>
                  <a:pt x="563" y="220"/>
                  <a:pt x="563" y="225"/>
                </a:cubicBezTo>
                <a:close/>
                <a:moveTo>
                  <a:pt x="702" y="266"/>
                </a:moveTo>
                <a:cubicBezTo>
                  <a:pt x="725" y="262"/>
                  <a:pt x="725" y="262"/>
                  <a:pt x="725" y="262"/>
                </a:cubicBezTo>
                <a:cubicBezTo>
                  <a:pt x="725" y="122"/>
                  <a:pt x="725" y="122"/>
                  <a:pt x="725" y="122"/>
                </a:cubicBezTo>
                <a:cubicBezTo>
                  <a:pt x="701" y="108"/>
                  <a:pt x="701" y="108"/>
                  <a:pt x="701" y="108"/>
                </a:cubicBezTo>
                <a:cubicBezTo>
                  <a:pt x="701" y="98"/>
                  <a:pt x="701" y="98"/>
                  <a:pt x="701" y="98"/>
                </a:cubicBezTo>
                <a:cubicBezTo>
                  <a:pt x="746" y="84"/>
                  <a:pt x="746" y="84"/>
                  <a:pt x="746" y="84"/>
                </a:cubicBezTo>
                <a:cubicBezTo>
                  <a:pt x="754" y="87"/>
                  <a:pt x="754" y="87"/>
                  <a:pt x="754" y="87"/>
                </a:cubicBezTo>
                <a:cubicBezTo>
                  <a:pt x="754" y="112"/>
                  <a:pt x="754" y="112"/>
                  <a:pt x="754" y="112"/>
                </a:cubicBezTo>
                <a:cubicBezTo>
                  <a:pt x="758" y="109"/>
                  <a:pt x="763" y="105"/>
                  <a:pt x="768" y="102"/>
                </a:cubicBezTo>
                <a:cubicBezTo>
                  <a:pt x="774" y="99"/>
                  <a:pt x="780" y="96"/>
                  <a:pt x="786" y="93"/>
                </a:cubicBezTo>
                <a:cubicBezTo>
                  <a:pt x="792" y="91"/>
                  <a:pt x="798" y="88"/>
                  <a:pt x="805" y="87"/>
                </a:cubicBezTo>
                <a:cubicBezTo>
                  <a:pt x="812" y="85"/>
                  <a:pt x="818" y="84"/>
                  <a:pt x="824" y="84"/>
                </a:cubicBezTo>
                <a:cubicBezTo>
                  <a:pt x="834" y="84"/>
                  <a:pt x="843" y="85"/>
                  <a:pt x="850" y="88"/>
                </a:cubicBezTo>
                <a:cubicBezTo>
                  <a:pt x="858" y="91"/>
                  <a:pt x="864" y="96"/>
                  <a:pt x="868" y="102"/>
                </a:cubicBezTo>
                <a:cubicBezTo>
                  <a:pt x="873" y="109"/>
                  <a:pt x="876" y="117"/>
                  <a:pt x="878" y="128"/>
                </a:cubicBezTo>
                <a:cubicBezTo>
                  <a:pt x="880" y="138"/>
                  <a:pt x="881" y="150"/>
                  <a:pt x="881" y="165"/>
                </a:cubicBezTo>
                <a:cubicBezTo>
                  <a:pt x="881" y="262"/>
                  <a:pt x="881" y="262"/>
                  <a:pt x="881" y="262"/>
                </a:cubicBezTo>
                <a:cubicBezTo>
                  <a:pt x="908" y="266"/>
                  <a:pt x="908" y="266"/>
                  <a:pt x="908" y="266"/>
                </a:cubicBezTo>
                <a:cubicBezTo>
                  <a:pt x="908" y="280"/>
                  <a:pt x="908" y="280"/>
                  <a:pt x="908" y="280"/>
                </a:cubicBezTo>
                <a:cubicBezTo>
                  <a:pt x="822" y="280"/>
                  <a:pt x="822" y="280"/>
                  <a:pt x="822" y="280"/>
                </a:cubicBezTo>
                <a:cubicBezTo>
                  <a:pt x="822" y="266"/>
                  <a:pt x="822" y="266"/>
                  <a:pt x="822" y="266"/>
                </a:cubicBezTo>
                <a:cubicBezTo>
                  <a:pt x="848" y="262"/>
                  <a:pt x="848" y="262"/>
                  <a:pt x="848" y="262"/>
                </a:cubicBezTo>
                <a:cubicBezTo>
                  <a:pt x="848" y="171"/>
                  <a:pt x="848" y="171"/>
                  <a:pt x="848" y="171"/>
                </a:cubicBezTo>
                <a:cubicBezTo>
                  <a:pt x="848" y="160"/>
                  <a:pt x="847" y="151"/>
                  <a:pt x="846" y="143"/>
                </a:cubicBezTo>
                <a:cubicBezTo>
                  <a:pt x="845" y="135"/>
                  <a:pt x="843" y="129"/>
                  <a:pt x="840" y="124"/>
                </a:cubicBezTo>
                <a:cubicBezTo>
                  <a:pt x="837" y="118"/>
                  <a:pt x="833" y="115"/>
                  <a:pt x="827" y="112"/>
                </a:cubicBezTo>
                <a:cubicBezTo>
                  <a:pt x="822" y="110"/>
                  <a:pt x="815" y="109"/>
                  <a:pt x="806" y="109"/>
                </a:cubicBezTo>
                <a:cubicBezTo>
                  <a:pt x="799" y="109"/>
                  <a:pt x="791" y="111"/>
                  <a:pt x="783" y="114"/>
                </a:cubicBezTo>
                <a:cubicBezTo>
                  <a:pt x="776" y="117"/>
                  <a:pt x="767" y="121"/>
                  <a:pt x="758" y="127"/>
                </a:cubicBezTo>
                <a:cubicBezTo>
                  <a:pt x="758" y="262"/>
                  <a:pt x="758" y="262"/>
                  <a:pt x="758" y="262"/>
                </a:cubicBezTo>
                <a:cubicBezTo>
                  <a:pt x="784" y="266"/>
                  <a:pt x="784" y="266"/>
                  <a:pt x="784" y="266"/>
                </a:cubicBezTo>
                <a:cubicBezTo>
                  <a:pt x="784" y="280"/>
                  <a:pt x="784" y="280"/>
                  <a:pt x="784" y="280"/>
                </a:cubicBezTo>
                <a:cubicBezTo>
                  <a:pt x="702" y="280"/>
                  <a:pt x="702" y="280"/>
                  <a:pt x="702" y="280"/>
                </a:cubicBezTo>
                <a:lnTo>
                  <a:pt x="702" y="266"/>
                </a:lnTo>
                <a:close/>
                <a:moveTo>
                  <a:pt x="976" y="284"/>
                </a:moveTo>
                <a:cubicBezTo>
                  <a:pt x="966" y="284"/>
                  <a:pt x="957" y="282"/>
                  <a:pt x="947" y="279"/>
                </a:cubicBezTo>
                <a:cubicBezTo>
                  <a:pt x="938" y="275"/>
                  <a:pt x="930" y="269"/>
                  <a:pt x="923" y="261"/>
                </a:cubicBezTo>
                <a:cubicBezTo>
                  <a:pt x="917" y="253"/>
                  <a:pt x="911" y="243"/>
                  <a:pt x="907" y="230"/>
                </a:cubicBezTo>
                <a:cubicBezTo>
                  <a:pt x="902" y="218"/>
                  <a:pt x="900" y="204"/>
                  <a:pt x="900" y="187"/>
                </a:cubicBezTo>
                <a:cubicBezTo>
                  <a:pt x="900" y="172"/>
                  <a:pt x="903" y="157"/>
                  <a:pt x="908" y="144"/>
                </a:cubicBezTo>
                <a:cubicBezTo>
                  <a:pt x="913" y="132"/>
                  <a:pt x="920" y="120"/>
                  <a:pt x="929" y="111"/>
                </a:cubicBezTo>
                <a:cubicBezTo>
                  <a:pt x="938" y="102"/>
                  <a:pt x="949" y="95"/>
                  <a:pt x="961" y="89"/>
                </a:cubicBezTo>
                <a:cubicBezTo>
                  <a:pt x="973" y="84"/>
                  <a:pt x="986" y="82"/>
                  <a:pt x="1000" y="82"/>
                </a:cubicBezTo>
                <a:cubicBezTo>
                  <a:pt x="1006" y="82"/>
                  <a:pt x="1012" y="82"/>
                  <a:pt x="1018" y="83"/>
                </a:cubicBezTo>
                <a:cubicBezTo>
                  <a:pt x="1023" y="84"/>
                  <a:pt x="1028" y="85"/>
                  <a:pt x="1032" y="86"/>
                </a:cubicBezTo>
                <a:cubicBezTo>
                  <a:pt x="1032" y="29"/>
                  <a:pt x="1032" y="29"/>
                  <a:pt x="1032" y="29"/>
                </a:cubicBezTo>
                <a:cubicBezTo>
                  <a:pt x="996" y="22"/>
                  <a:pt x="996" y="22"/>
                  <a:pt x="996" y="22"/>
                </a:cubicBezTo>
                <a:cubicBezTo>
                  <a:pt x="996" y="7"/>
                  <a:pt x="996" y="7"/>
                  <a:pt x="996" y="7"/>
                </a:cubicBezTo>
                <a:cubicBezTo>
                  <a:pt x="1058" y="0"/>
                  <a:pt x="1058" y="0"/>
                  <a:pt x="1058" y="0"/>
                </a:cubicBezTo>
                <a:cubicBezTo>
                  <a:pt x="1065" y="4"/>
                  <a:pt x="1065" y="4"/>
                  <a:pt x="1065" y="4"/>
                </a:cubicBezTo>
                <a:cubicBezTo>
                  <a:pt x="1065" y="266"/>
                  <a:pt x="1065" y="266"/>
                  <a:pt x="1065" y="266"/>
                </a:cubicBezTo>
                <a:cubicBezTo>
                  <a:pt x="1089" y="266"/>
                  <a:pt x="1089" y="266"/>
                  <a:pt x="1089" y="266"/>
                </a:cubicBezTo>
                <a:cubicBezTo>
                  <a:pt x="1089" y="278"/>
                  <a:pt x="1089" y="278"/>
                  <a:pt x="1089" y="278"/>
                </a:cubicBezTo>
                <a:cubicBezTo>
                  <a:pt x="1087" y="279"/>
                  <a:pt x="1084" y="280"/>
                  <a:pt x="1081" y="281"/>
                </a:cubicBezTo>
                <a:cubicBezTo>
                  <a:pt x="1078" y="282"/>
                  <a:pt x="1075" y="283"/>
                  <a:pt x="1072" y="284"/>
                </a:cubicBezTo>
                <a:cubicBezTo>
                  <a:pt x="1069" y="284"/>
                  <a:pt x="1066" y="285"/>
                  <a:pt x="1062" y="285"/>
                </a:cubicBezTo>
                <a:cubicBezTo>
                  <a:pt x="1059" y="286"/>
                  <a:pt x="1056" y="286"/>
                  <a:pt x="1053" y="286"/>
                </a:cubicBezTo>
                <a:cubicBezTo>
                  <a:pt x="1051" y="286"/>
                  <a:pt x="1048" y="286"/>
                  <a:pt x="1046" y="285"/>
                </a:cubicBezTo>
                <a:cubicBezTo>
                  <a:pt x="1044" y="285"/>
                  <a:pt x="1042" y="284"/>
                  <a:pt x="1040" y="283"/>
                </a:cubicBezTo>
                <a:cubicBezTo>
                  <a:pt x="1038" y="282"/>
                  <a:pt x="1037" y="280"/>
                  <a:pt x="1035" y="278"/>
                </a:cubicBezTo>
                <a:cubicBezTo>
                  <a:pt x="1034" y="275"/>
                  <a:pt x="1034" y="272"/>
                  <a:pt x="1034" y="268"/>
                </a:cubicBezTo>
                <a:cubicBezTo>
                  <a:pt x="1034" y="264"/>
                  <a:pt x="1034" y="264"/>
                  <a:pt x="1034" y="264"/>
                </a:cubicBezTo>
                <a:cubicBezTo>
                  <a:pt x="1032" y="266"/>
                  <a:pt x="1029" y="268"/>
                  <a:pt x="1026" y="270"/>
                </a:cubicBezTo>
                <a:cubicBezTo>
                  <a:pt x="1023" y="273"/>
                  <a:pt x="1019" y="275"/>
                  <a:pt x="1014" y="277"/>
                </a:cubicBezTo>
                <a:cubicBezTo>
                  <a:pt x="1009" y="279"/>
                  <a:pt x="1003" y="281"/>
                  <a:pt x="997" y="282"/>
                </a:cubicBezTo>
                <a:cubicBezTo>
                  <a:pt x="990" y="284"/>
                  <a:pt x="983" y="284"/>
                  <a:pt x="976" y="284"/>
                </a:cubicBezTo>
                <a:close/>
                <a:moveTo>
                  <a:pt x="989" y="261"/>
                </a:moveTo>
                <a:cubicBezTo>
                  <a:pt x="993" y="261"/>
                  <a:pt x="996" y="260"/>
                  <a:pt x="999" y="260"/>
                </a:cubicBezTo>
                <a:cubicBezTo>
                  <a:pt x="1002" y="260"/>
                  <a:pt x="1005" y="259"/>
                  <a:pt x="1008" y="258"/>
                </a:cubicBezTo>
                <a:cubicBezTo>
                  <a:pt x="1014" y="257"/>
                  <a:pt x="1018" y="255"/>
                  <a:pt x="1022" y="253"/>
                </a:cubicBezTo>
                <a:cubicBezTo>
                  <a:pt x="1026" y="251"/>
                  <a:pt x="1030" y="248"/>
                  <a:pt x="1032" y="246"/>
                </a:cubicBezTo>
                <a:cubicBezTo>
                  <a:pt x="1032" y="114"/>
                  <a:pt x="1032" y="114"/>
                  <a:pt x="1032" y="114"/>
                </a:cubicBezTo>
                <a:cubicBezTo>
                  <a:pt x="1031" y="112"/>
                  <a:pt x="1030" y="111"/>
                  <a:pt x="1028" y="109"/>
                </a:cubicBezTo>
                <a:cubicBezTo>
                  <a:pt x="1026" y="107"/>
                  <a:pt x="1024" y="106"/>
                  <a:pt x="1021" y="105"/>
                </a:cubicBezTo>
                <a:cubicBezTo>
                  <a:pt x="1018" y="103"/>
                  <a:pt x="1014" y="102"/>
                  <a:pt x="1010" y="101"/>
                </a:cubicBezTo>
                <a:cubicBezTo>
                  <a:pt x="1006" y="100"/>
                  <a:pt x="1001" y="100"/>
                  <a:pt x="996" y="100"/>
                </a:cubicBezTo>
                <a:cubicBezTo>
                  <a:pt x="991" y="100"/>
                  <a:pt x="987" y="101"/>
                  <a:pt x="982" y="102"/>
                </a:cubicBezTo>
                <a:cubicBezTo>
                  <a:pt x="977" y="103"/>
                  <a:pt x="973" y="104"/>
                  <a:pt x="968" y="107"/>
                </a:cubicBezTo>
                <a:cubicBezTo>
                  <a:pt x="964" y="110"/>
                  <a:pt x="959" y="113"/>
                  <a:pt x="955" y="117"/>
                </a:cubicBezTo>
                <a:cubicBezTo>
                  <a:pt x="951" y="121"/>
                  <a:pt x="947" y="126"/>
                  <a:pt x="944" y="132"/>
                </a:cubicBezTo>
                <a:cubicBezTo>
                  <a:pt x="941" y="137"/>
                  <a:pt x="938" y="144"/>
                  <a:pt x="936" y="152"/>
                </a:cubicBezTo>
                <a:cubicBezTo>
                  <a:pt x="934" y="160"/>
                  <a:pt x="933" y="169"/>
                  <a:pt x="933" y="179"/>
                </a:cubicBezTo>
                <a:cubicBezTo>
                  <a:pt x="933" y="193"/>
                  <a:pt x="934" y="205"/>
                  <a:pt x="937" y="215"/>
                </a:cubicBezTo>
                <a:cubicBezTo>
                  <a:pt x="941" y="226"/>
                  <a:pt x="945" y="234"/>
                  <a:pt x="950" y="241"/>
                </a:cubicBezTo>
                <a:cubicBezTo>
                  <a:pt x="955" y="248"/>
                  <a:pt x="961" y="253"/>
                  <a:pt x="968" y="256"/>
                </a:cubicBezTo>
                <a:cubicBezTo>
                  <a:pt x="975" y="259"/>
                  <a:pt x="982" y="261"/>
                  <a:pt x="989" y="261"/>
                </a:cubicBezTo>
                <a:close/>
                <a:moveTo>
                  <a:pt x="1098" y="1"/>
                </a:moveTo>
                <a:cubicBezTo>
                  <a:pt x="1109" y="1"/>
                  <a:pt x="1119" y="10"/>
                  <a:pt x="1119" y="21"/>
                </a:cubicBezTo>
                <a:cubicBezTo>
                  <a:pt x="1119" y="33"/>
                  <a:pt x="1109" y="42"/>
                  <a:pt x="1098" y="42"/>
                </a:cubicBezTo>
                <a:cubicBezTo>
                  <a:pt x="1086" y="42"/>
                  <a:pt x="1077" y="33"/>
                  <a:pt x="1077" y="21"/>
                </a:cubicBezTo>
                <a:cubicBezTo>
                  <a:pt x="1077" y="10"/>
                  <a:pt x="1086" y="1"/>
                  <a:pt x="1098" y="1"/>
                </a:cubicBezTo>
                <a:close/>
                <a:moveTo>
                  <a:pt x="1098" y="39"/>
                </a:moveTo>
                <a:cubicBezTo>
                  <a:pt x="1108" y="39"/>
                  <a:pt x="1115" y="32"/>
                  <a:pt x="1115" y="21"/>
                </a:cubicBezTo>
                <a:cubicBezTo>
                  <a:pt x="1115" y="11"/>
                  <a:pt x="1108" y="4"/>
                  <a:pt x="1098" y="4"/>
                </a:cubicBezTo>
                <a:cubicBezTo>
                  <a:pt x="1088" y="4"/>
                  <a:pt x="1081" y="11"/>
                  <a:pt x="1081" y="21"/>
                </a:cubicBezTo>
                <a:cubicBezTo>
                  <a:pt x="1081" y="32"/>
                  <a:pt x="1088" y="39"/>
                  <a:pt x="1098" y="39"/>
                </a:cubicBezTo>
                <a:close/>
                <a:moveTo>
                  <a:pt x="1090" y="9"/>
                </a:moveTo>
                <a:cubicBezTo>
                  <a:pt x="1099" y="9"/>
                  <a:pt x="1099" y="9"/>
                  <a:pt x="1099" y="9"/>
                </a:cubicBezTo>
                <a:cubicBezTo>
                  <a:pt x="1105" y="9"/>
                  <a:pt x="1108" y="12"/>
                  <a:pt x="1108" y="16"/>
                </a:cubicBezTo>
                <a:cubicBezTo>
                  <a:pt x="1108" y="21"/>
                  <a:pt x="1105" y="23"/>
                  <a:pt x="1101" y="23"/>
                </a:cubicBezTo>
                <a:cubicBezTo>
                  <a:pt x="1108" y="34"/>
                  <a:pt x="1108" y="34"/>
                  <a:pt x="1108" y="34"/>
                </a:cubicBezTo>
                <a:cubicBezTo>
                  <a:pt x="1104" y="34"/>
                  <a:pt x="1104" y="34"/>
                  <a:pt x="1104" y="34"/>
                </a:cubicBezTo>
                <a:cubicBezTo>
                  <a:pt x="1098" y="23"/>
                  <a:pt x="1098" y="23"/>
                  <a:pt x="1098" y="23"/>
                </a:cubicBezTo>
                <a:cubicBezTo>
                  <a:pt x="1094" y="23"/>
                  <a:pt x="1094" y="23"/>
                  <a:pt x="1094" y="23"/>
                </a:cubicBezTo>
                <a:cubicBezTo>
                  <a:pt x="1094" y="34"/>
                  <a:pt x="1094" y="34"/>
                  <a:pt x="1094" y="34"/>
                </a:cubicBezTo>
                <a:cubicBezTo>
                  <a:pt x="1090" y="34"/>
                  <a:pt x="1090" y="34"/>
                  <a:pt x="1090" y="34"/>
                </a:cubicBezTo>
                <a:lnTo>
                  <a:pt x="1090" y="9"/>
                </a:lnTo>
                <a:close/>
                <a:moveTo>
                  <a:pt x="1094" y="20"/>
                </a:moveTo>
                <a:cubicBezTo>
                  <a:pt x="1097" y="20"/>
                  <a:pt x="1097" y="20"/>
                  <a:pt x="1097" y="20"/>
                </a:cubicBezTo>
                <a:cubicBezTo>
                  <a:pt x="1101" y="20"/>
                  <a:pt x="1104" y="20"/>
                  <a:pt x="1104" y="16"/>
                </a:cubicBezTo>
                <a:cubicBezTo>
                  <a:pt x="1104" y="13"/>
                  <a:pt x="1101" y="12"/>
                  <a:pt x="1099" y="12"/>
                </a:cubicBezTo>
                <a:cubicBezTo>
                  <a:pt x="1094" y="12"/>
                  <a:pt x="1094" y="12"/>
                  <a:pt x="1094" y="12"/>
                </a:cubicBezTo>
                <a:lnTo>
                  <a:pt x="1094" y="20"/>
                </a:lnTo>
                <a:close/>
              </a:path>
            </a:pathLst>
          </a:custGeom>
          <a:gradFill>
            <a:gsLst>
              <a:gs pos="1000">
                <a:srgbClr val="53BD4E"/>
              </a:gs>
              <a:gs pos="99000">
                <a:srgbClr val="54C8E8"/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971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Closing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724400" y="2057400"/>
            <a:ext cx="2743200" cy="2743200"/>
          </a:xfrm>
          <a:prstGeom prst="rect">
            <a:avLst/>
          </a:prstGeom>
          <a:gradFill flip="none" rotWithShape="1">
            <a:gsLst>
              <a:gs pos="1000">
                <a:srgbClr val="53BD4E"/>
              </a:gs>
              <a:gs pos="100000">
                <a:srgbClr val="00CBE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2" name="Freeform 21"/>
          <p:cNvSpPr/>
          <p:nvPr userDrawn="1"/>
        </p:nvSpPr>
        <p:spPr bwMode="auto">
          <a:xfrm flipV="1">
            <a:off x="3757578" y="1981200"/>
            <a:ext cx="1930400" cy="28956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Freeform 22"/>
          <p:cNvSpPr/>
          <p:nvPr userDrawn="1"/>
        </p:nvSpPr>
        <p:spPr bwMode="auto">
          <a:xfrm flipH="1" flipV="1">
            <a:off x="6502400" y="1981200"/>
            <a:ext cx="1930400" cy="28956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724400" y="2057400"/>
            <a:ext cx="2743200" cy="2743200"/>
          </a:xfrm>
          <a:prstGeom prst="rect">
            <a:avLst/>
          </a:prstGeom>
          <a:solidFill>
            <a:srgbClr val="565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267200" y="4800600"/>
            <a:ext cx="3657600" cy="2057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6" name="Freeform 25"/>
          <p:cNvSpPr/>
          <p:nvPr userDrawn="1"/>
        </p:nvSpPr>
        <p:spPr bwMode="auto">
          <a:xfrm flipH="1">
            <a:off x="7010400" y="3824258"/>
            <a:ext cx="914400" cy="27432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Freeform 26"/>
          <p:cNvSpPr/>
          <p:nvPr userDrawn="1"/>
        </p:nvSpPr>
        <p:spPr bwMode="auto">
          <a:xfrm>
            <a:off x="4267200" y="3824258"/>
            <a:ext cx="914400" cy="2743200"/>
          </a:xfrm>
          <a:custGeom>
            <a:avLst/>
            <a:gdLst>
              <a:gd name="connsiteX0" fmla="*/ 0 w 914400"/>
              <a:gd name="connsiteY0" fmla="*/ 0 h 2743200"/>
              <a:gd name="connsiteX1" fmla="*/ 457200 w 914400"/>
              <a:gd name="connsiteY1" fmla="*/ 0 h 2743200"/>
              <a:gd name="connsiteX2" fmla="*/ 914400 w 914400"/>
              <a:gd name="connsiteY2" fmla="*/ 2743200 h 2743200"/>
              <a:gd name="connsiteX3" fmla="*/ 457200 w 914400"/>
              <a:gd name="connsiteY3" fmla="*/ 2743200 h 2743200"/>
              <a:gd name="connsiteX4" fmla="*/ 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0" y="0"/>
                </a:moveTo>
                <a:lnTo>
                  <a:pt x="457200" y="0"/>
                </a:lnTo>
                <a:lnTo>
                  <a:pt x="914400" y="2743200"/>
                </a:lnTo>
                <a:lnTo>
                  <a:pt x="457200" y="2743200"/>
                </a:lnTo>
                <a:lnTo>
                  <a:pt x="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Freeform 21"/>
          <p:cNvSpPr>
            <a:spLocks noEditPoints="1"/>
          </p:cNvSpPr>
          <p:nvPr userDrawn="1"/>
        </p:nvSpPr>
        <p:spPr bwMode="auto">
          <a:xfrm>
            <a:off x="5155469" y="3117458"/>
            <a:ext cx="1881062" cy="622172"/>
          </a:xfrm>
          <a:custGeom>
            <a:avLst/>
            <a:gdLst>
              <a:gd name="T0" fmla="*/ 0 w 1119"/>
              <a:gd name="T1" fmla="*/ 30 h 369"/>
              <a:gd name="T2" fmla="*/ 62 w 1119"/>
              <a:gd name="T3" fmla="*/ 32 h 369"/>
              <a:gd name="T4" fmla="*/ 166 w 1119"/>
              <a:gd name="T5" fmla="*/ 30 h 369"/>
              <a:gd name="T6" fmla="*/ 228 w 1119"/>
              <a:gd name="T7" fmla="*/ 32 h 369"/>
              <a:gd name="T8" fmla="*/ 165 w 1119"/>
              <a:gd name="T9" fmla="*/ 280 h 369"/>
              <a:gd name="T10" fmla="*/ 62 w 1119"/>
              <a:gd name="T11" fmla="*/ 160 h 369"/>
              <a:gd name="T12" fmla="*/ 0 w 1119"/>
              <a:gd name="T13" fmla="*/ 280 h 369"/>
              <a:gd name="T14" fmla="*/ 285 w 1119"/>
              <a:gd name="T15" fmla="*/ 340 h 369"/>
              <a:gd name="T16" fmla="*/ 340 w 1119"/>
              <a:gd name="T17" fmla="*/ 280 h 369"/>
              <a:gd name="T18" fmla="*/ 246 w 1119"/>
              <a:gd name="T19" fmla="*/ 87 h 369"/>
              <a:gd name="T20" fmla="*/ 341 w 1119"/>
              <a:gd name="T21" fmla="*/ 225 h 369"/>
              <a:gd name="T22" fmla="*/ 371 w 1119"/>
              <a:gd name="T23" fmla="*/ 106 h 369"/>
              <a:gd name="T24" fmla="*/ 426 w 1119"/>
              <a:gd name="T25" fmla="*/ 108 h 369"/>
              <a:gd name="T26" fmla="*/ 372 w 1119"/>
              <a:gd name="T27" fmla="*/ 264 h 369"/>
              <a:gd name="T28" fmla="*/ 335 w 1119"/>
              <a:gd name="T29" fmla="*/ 342 h 369"/>
              <a:gd name="T30" fmla="*/ 281 w 1119"/>
              <a:gd name="T31" fmla="*/ 369 h 369"/>
              <a:gd name="T32" fmla="*/ 271 w 1119"/>
              <a:gd name="T33" fmla="*/ 339 h 369"/>
              <a:gd name="T34" fmla="*/ 437 w 1119"/>
              <a:gd name="T35" fmla="*/ 22 h 369"/>
              <a:gd name="T36" fmla="*/ 498 w 1119"/>
              <a:gd name="T37" fmla="*/ 262 h 369"/>
              <a:gd name="T38" fmla="*/ 435 w 1119"/>
              <a:gd name="T39" fmla="*/ 266 h 369"/>
              <a:gd name="T40" fmla="*/ 575 w 1119"/>
              <a:gd name="T41" fmla="*/ 177 h 369"/>
              <a:gd name="T42" fmla="*/ 641 w 1119"/>
              <a:gd name="T43" fmla="*/ 151 h 369"/>
              <a:gd name="T44" fmla="*/ 593 w 1119"/>
              <a:gd name="T45" fmla="*/ 107 h 369"/>
              <a:gd name="T46" fmla="*/ 543 w 1119"/>
              <a:gd name="T47" fmla="*/ 120 h 369"/>
              <a:gd name="T48" fmla="*/ 590 w 1119"/>
              <a:gd name="T49" fmla="*/ 85 h 369"/>
              <a:gd name="T50" fmla="*/ 668 w 1119"/>
              <a:gd name="T51" fmla="*/ 116 h 369"/>
              <a:gd name="T52" fmla="*/ 696 w 1119"/>
              <a:gd name="T53" fmla="*/ 277 h 369"/>
              <a:gd name="T54" fmla="*/ 650 w 1119"/>
              <a:gd name="T55" fmla="*/ 282 h 369"/>
              <a:gd name="T56" fmla="*/ 633 w 1119"/>
              <a:gd name="T57" fmla="*/ 271 h 369"/>
              <a:gd name="T58" fmla="*/ 561 w 1119"/>
              <a:gd name="T59" fmla="*/ 279 h 369"/>
              <a:gd name="T60" fmla="*/ 563 w 1119"/>
              <a:gd name="T61" fmla="*/ 225 h 369"/>
              <a:gd name="T62" fmla="*/ 604 w 1119"/>
              <a:gd name="T63" fmla="*/ 262 h 369"/>
              <a:gd name="T64" fmla="*/ 640 w 1119"/>
              <a:gd name="T65" fmla="*/ 248 h 369"/>
              <a:gd name="T66" fmla="*/ 608 w 1119"/>
              <a:gd name="T67" fmla="*/ 187 h 369"/>
              <a:gd name="T68" fmla="*/ 563 w 1119"/>
              <a:gd name="T69" fmla="*/ 225 h 369"/>
              <a:gd name="T70" fmla="*/ 701 w 1119"/>
              <a:gd name="T71" fmla="*/ 108 h 369"/>
              <a:gd name="T72" fmla="*/ 754 w 1119"/>
              <a:gd name="T73" fmla="*/ 112 h 369"/>
              <a:gd name="T74" fmla="*/ 824 w 1119"/>
              <a:gd name="T75" fmla="*/ 84 h 369"/>
              <a:gd name="T76" fmla="*/ 881 w 1119"/>
              <a:gd name="T77" fmla="*/ 165 h 369"/>
              <a:gd name="T78" fmla="*/ 822 w 1119"/>
              <a:gd name="T79" fmla="*/ 280 h 369"/>
              <a:gd name="T80" fmla="*/ 846 w 1119"/>
              <a:gd name="T81" fmla="*/ 143 h 369"/>
              <a:gd name="T82" fmla="*/ 783 w 1119"/>
              <a:gd name="T83" fmla="*/ 114 h 369"/>
              <a:gd name="T84" fmla="*/ 784 w 1119"/>
              <a:gd name="T85" fmla="*/ 280 h 369"/>
              <a:gd name="T86" fmla="*/ 947 w 1119"/>
              <a:gd name="T87" fmla="*/ 279 h 369"/>
              <a:gd name="T88" fmla="*/ 908 w 1119"/>
              <a:gd name="T89" fmla="*/ 144 h 369"/>
              <a:gd name="T90" fmla="*/ 1018 w 1119"/>
              <a:gd name="T91" fmla="*/ 83 h 369"/>
              <a:gd name="T92" fmla="*/ 996 w 1119"/>
              <a:gd name="T93" fmla="*/ 7 h 369"/>
              <a:gd name="T94" fmla="*/ 1089 w 1119"/>
              <a:gd name="T95" fmla="*/ 266 h 369"/>
              <a:gd name="T96" fmla="*/ 1062 w 1119"/>
              <a:gd name="T97" fmla="*/ 285 h 369"/>
              <a:gd name="T98" fmla="*/ 1035 w 1119"/>
              <a:gd name="T99" fmla="*/ 278 h 369"/>
              <a:gd name="T100" fmla="*/ 1014 w 1119"/>
              <a:gd name="T101" fmla="*/ 277 h 369"/>
              <a:gd name="T102" fmla="*/ 999 w 1119"/>
              <a:gd name="T103" fmla="*/ 260 h 369"/>
              <a:gd name="T104" fmla="*/ 1032 w 1119"/>
              <a:gd name="T105" fmla="*/ 114 h 369"/>
              <a:gd name="T106" fmla="*/ 996 w 1119"/>
              <a:gd name="T107" fmla="*/ 100 h 369"/>
              <a:gd name="T108" fmla="*/ 944 w 1119"/>
              <a:gd name="T109" fmla="*/ 132 h 369"/>
              <a:gd name="T110" fmla="*/ 950 w 1119"/>
              <a:gd name="T111" fmla="*/ 241 h 369"/>
              <a:gd name="T112" fmla="*/ 1119 w 1119"/>
              <a:gd name="T113" fmla="*/ 21 h 369"/>
              <a:gd name="T114" fmla="*/ 1098 w 1119"/>
              <a:gd name="T115" fmla="*/ 39 h 369"/>
              <a:gd name="T116" fmla="*/ 1098 w 1119"/>
              <a:gd name="T117" fmla="*/ 39 h 369"/>
              <a:gd name="T118" fmla="*/ 1101 w 1119"/>
              <a:gd name="T119" fmla="*/ 23 h 369"/>
              <a:gd name="T120" fmla="*/ 1094 w 1119"/>
              <a:gd name="T121" fmla="*/ 23 h 369"/>
              <a:gd name="T122" fmla="*/ 1094 w 1119"/>
              <a:gd name="T123" fmla="*/ 20 h 369"/>
              <a:gd name="T124" fmla="*/ 1094 w 1119"/>
              <a:gd name="T125" fmla="*/ 12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19" h="369">
                <a:moveTo>
                  <a:pt x="0" y="266"/>
                </a:moveTo>
                <a:cubicBezTo>
                  <a:pt x="29" y="260"/>
                  <a:pt x="29" y="260"/>
                  <a:pt x="29" y="260"/>
                </a:cubicBezTo>
                <a:cubicBezTo>
                  <a:pt x="29" y="33"/>
                  <a:pt x="29" y="33"/>
                  <a:pt x="29" y="33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13"/>
                  <a:pt x="0" y="13"/>
                  <a:pt x="0" y="13"/>
                </a:cubicBezTo>
                <a:cubicBezTo>
                  <a:pt x="90" y="13"/>
                  <a:pt x="90" y="13"/>
                  <a:pt x="90" y="13"/>
                </a:cubicBezTo>
                <a:cubicBezTo>
                  <a:pt x="90" y="30"/>
                  <a:pt x="90" y="30"/>
                  <a:pt x="90" y="30"/>
                </a:cubicBezTo>
                <a:cubicBezTo>
                  <a:pt x="62" y="32"/>
                  <a:pt x="62" y="32"/>
                  <a:pt x="62" y="32"/>
                </a:cubicBezTo>
                <a:cubicBezTo>
                  <a:pt x="62" y="140"/>
                  <a:pt x="62" y="140"/>
                  <a:pt x="62" y="140"/>
                </a:cubicBezTo>
                <a:cubicBezTo>
                  <a:pt x="194" y="140"/>
                  <a:pt x="194" y="140"/>
                  <a:pt x="194" y="140"/>
                </a:cubicBezTo>
                <a:cubicBezTo>
                  <a:pt x="194" y="32"/>
                  <a:pt x="194" y="32"/>
                  <a:pt x="194" y="32"/>
                </a:cubicBezTo>
                <a:cubicBezTo>
                  <a:pt x="166" y="30"/>
                  <a:pt x="166" y="30"/>
                  <a:pt x="166" y="30"/>
                </a:cubicBezTo>
                <a:cubicBezTo>
                  <a:pt x="166" y="13"/>
                  <a:pt x="166" y="13"/>
                  <a:pt x="166" y="13"/>
                </a:cubicBezTo>
                <a:cubicBezTo>
                  <a:pt x="256" y="13"/>
                  <a:pt x="256" y="13"/>
                  <a:pt x="256" y="13"/>
                </a:cubicBezTo>
                <a:cubicBezTo>
                  <a:pt x="256" y="30"/>
                  <a:pt x="256" y="30"/>
                  <a:pt x="256" y="30"/>
                </a:cubicBezTo>
                <a:cubicBezTo>
                  <a:pt x="228" y="32"/>
                  <a:pt x="228" y="32"/>
                  <a:pt x="228" y="32"/>
                </a:cubicBezTo>
                <a:cubicBezTo>
                  <a:pt x="228" y="260"/>
                  <a:pt x="228" y="260"/>
                  <a:pt x="228" y="260"/>
                </a:cubicBezTo>
                <a:cubicBezTo>
                  <a:pt x="257" y="266"/>
                  <a:pt x="257" y="266"/>
                  <a:pt x="257" y="266"/>
                </a:cubicBezTo>
                <a:cubicBezTo>
                  <a:pt x="257" y="280"/>
                  <a:pt x="257" y="280"/>
                  <a:pt x="257" y="280"/>
                </a:cubicBezTo>
                <a:cubicBezTo>
                  <a:pt x="165" y="280"/>
                  <a:pt x="165" y="280"/>
                  <a:pt x="165" y="280"/>
                </a:cubicBezTo>
                <a:cubicBezTo>
                  <a:pt x="165" y="266"/>
                  <a:pt x="165" y="266"/>
                  <a:pt x="165" y="266"/>
                </a:cubicBezTo>
                <a:cubicBezTo>
                  <a:pt x="194" y="261"/>
                  <a:pt x="194" y="261"/>
                  <a:pt x="194" y="261"/>
                </a:cubicBezTo>
                <a:cubicBezTo>
                  <a:pt x="194" y="160"/>
                  <a:pt x="194" y="160"/>
                  <a:pt x="194" y="160"/>
                </a:cubicBezTo>
                <a:cubicBezTo>
                  <a:pt x="62" y="160"/>
                  <a:pt x="62" y="160"/>
                  <a:pt x="62" y="160"/>
                </a:cubicBezTo>
                <a:cubicBezTo>
                  <a:pt x="62" y="260"/>
                  <a:pt x="62" y="260"/>
                  <a:pt x="62" y="260"/>
                </a:cubicBezTo>
                <a:cubicBezTo>
                  <a:pt x="92" y="266"/>
                  <a:pt x="92" y="266"/>
                  <a:pt x="92" y="266"/>
                </a:cubicBezTo>
                <a:cubicBezTo>
                  <a:pt x="92" y="280"/>
                  <a:pt x="92" y="280"/>
                  <a:pt x="92" y="280"/>
                </a:cubicBezTo>
                <a:cubicBezTo>
                  <a:pt x="0" y="280"/>
                  <a:pt x="0" y="280"/>
                  <a:pt x="0" y="280"/>
                </a:cubicBezTo>
                <a:lnTo>
                  <a:pt x="0" y="266"/>
                </a:lnTo>
                <a:close/>
                <a:moveTo>
                  <a:pt x="271" y="339"/>
                </a:moveTo>
                <a:cubicBezTo>
                  <a:pt x="273" y="339"/>
                  <a:pt x="275" y="340"/>
                  <a:pt x="278" y="340"/>
                </a:cubicBezTo>
                <a:cubicBezTo>
                  <a:pt x="280" y="340"/>
                  <a:pt x="283" y="340"/>
                  <a:pt x="285" y="340"/>
                </a:cubicBezTo>
                <a:cubicBezTo>
                  <a:pt x="289" y="340"/>
                  <a:pt x="293" y="340"/>
                  <a:pt x="298" y="338"/>
                </a:cubicBezTo>
                <a:cubicBezTo>
                  <a:pt x="303" y="337"/>
                  <a:pt x="308" y="334"/>
                  <a:pt x="313" y="330"/>
                </a:cubicBezTo>
                <a:cubicBezTo>
                  <a:pt x="318" y="325"/>
                  <a:pt x="323" y="319"/>
                  <a:pt x="327" y="311"/>
                </a:cubicBezTo>
                <a:cubicBezTo>
                  <a:pt x="332" y="303"/>
                  <a:pt x="336" y="293"/>
                  <a:pt x="340" y="280"/>
                </a:cubicBezTo>
                <a:cubicBezTo>
                  <a:pt x="333" y="280"/>
                  <a:pt x="333" y="280"/>
                  <a:pt x="333" y="280"/>
                </a:cubicBezTo>
                <a:cubicBezTo>
                  <a:pt x="263" y="109"/>
                  <a:pt x="263" y="109"/>
                  <a:pt x="263" y="109"/>
                </a:cubicBezTo>
                <a:cubicBezTo>
                  <a:pt x="246" y="106"/>
                  <a:pt x="246" y="106"/>
                  <a:pt x="246" y="106"/>
                </a:cubicBezTo>
                <a:cubicBezTo>
                  <a:pt x="246" y="87"/>
                  <a:pt x="246" y="87"/>
                  <a:pt x="246" y="87"/>
                </a:cubicBezTo>
                <a:cubicBezTo>
                  <a:pt x="325" y="87"/>
                  <a:pt x="325" y="87"/>
                  <a:pt x="325" y="87"/>
                </a:cubicBezTo>
                <a:cubicBezTo>
                  <a:pt x="325" y="106"/>
                  <a:pt x="325" y="106"/>
                  <a:pt x="325" y="106"/>
                </a:cubicBezTo>
                <a:cubicBezTo>
                  <a:pt x="300" y="109"/>
                  <a:pt x="300" y="109"/>
                  <a:pt x="300" y="109"/>
                </a:cubicBezTo>
                <a:cubicBezTo>
                  <a:pt x="341" y="225"/>
                  <a:pt x="341" y="225"/>
                  <a:pt x="341" y="225"/>
                </a:cubicBezTo>
                <a:cubicBezTo>
                  <a:pt x="352" y="260"/>
                  <a:pt x="352" y="260"/>
                  <a:pt x="352" y="260"/>
                </a:cubicBezTo>
                <a:cubicBezTo>
                  <a:pt x="362" y="225"/>
                  <a:pt x="362" y="225"/>
                  <a:pt x="362" y="225"/>
                </a:cubicBezTo>
                <a:cubicBezTo>
                  <a:pt x="397" y="109"/>
                  <a:pt x="397" y="109"/>
                  <a:pt x="397" y="109"/>
                </a:cubicBezTo>
                <a:cubicBezTo>
                  <a:pt x="371" y="106"/>
                  <a:pt x="371" y="106"/>
                  <a:pt x="371" y="106"/>
                </a:cubicBezTo>
                <a:cubicBezTo>
                  <a:pt x="371" y="87"/>
                  <a:pt x="371" y="87"/>
                  <a:pt x="371" y="87"/>
                </a:cubicBezTo>
                <a:cubicBezTo>
                  <a:pt x="445" y="87"/>
                  <a:pt x="445" y="87"/>
                  <a:pt x="445" y="87"/>
                </a:cubicBezTo>
                <a:cubicBezTo>
                  <a:pt x="445" y="106"/>
                  <a:pt x="445" y="106"/>
                  <a:pt x="445" y="106"/>
                </a:cubicBezTo>
                <a:cubicBezTo>
                  <a:pt x="426" y="108"/>
                  <a:pt x="426" y="108"/>
                  <a:pt x="426" y="108"/>
                </a:cubicBezTo>
                <a:cubicBezTo>
                  <a:pt x="418" y="131"/>
                  <a:pt x="411" y="150"/>
                  <a:pt x="405" y="167"/>
                </a:cubicBezTo>
                <a:cubicBezTo>
                  <a:pt x="400" y="184"/>
                  <a:pt x="395" y="199"/>
                  <a:pt x="390" y="211"/>
                </a:cubicBezTo>
                <a:cubicBezTo>
                  <a:pt x="386" y="223"/>
                  <a:pt x="382" y="234"/>
                  <a:pt x="379" y="243"/>
                </a:cubicBezTo>
                <a:cubicBezTo>
                  <a:pt x="376" y="251"/>
                  <a:pt x="374" y="258"/>
                  <a:pt x="372" y="264"/>
                </a:cubicBezTo>
                <a:cubicBezTo>
                  <a:pt x="370" y="270"/>
                  <a:pt x="368" y="274"/>
                  <a:pt x="367" y="278"/>
                </a:cubicBezTo>
                <a:cubicBezTo>
                  <a:pt x="365" y="282"/>
                  <a:pt x="364" y="284"/>
                  <a:pt x="363" y="287"/>
                </a:cubicBezTo>
                <a:cubicBezTo>
                  <a:pt x="359" y="298"/>
                  <a:pt x="354" y="309"/>
                  <a:pt x="350" y="318"/>
                </a:cubicBezTo>
                <a:cubicBezTo>
                  <a:pt x="345" y="327"/>
                  <a:pt x="340" y="335"/>
                  <a:pt x="335" y="342"/>
                </a:cubicBezTo>
                <a:cubicBezTo>
                  <a:pt x="330" y="348"/>
                  <a:pt x="325" y="354"/>
                  <a:pt x="319" y="358"/>
                </a:cubicBezTo>
                <a:cubicBezTo>
                  <a:pt x="313" y="362"/>
                  <a:pt x="307" y="365"/>
                  <a:pt x="300" y="367"/>
                </a:cubicBezTo>
                <a:cubicBezTo>
                  <a:pt x="295" y="368"/>
                  <a:pt x="290" y="369"/>
                  <a:pt x="285" y="369"/>
                </a:cubicBezTo>
                <a:cubicBezTo>
                  <a:pt x="283" y="369"/>
                  <a:pt x="282" y="369"/>
                  <a:pt x="281" y="369"/>
                </a:cubicBezTo>
                <a:cubicBezTo>
                  <a:pt x="279" y="369"/>
                  <a:pt x="278" y="368"/>
                  <a:pt x="277" y="368"/>
                </a:cubicBezTo>
                <a:cubicBezTo>
                  <a:pt x="275" y="368"/>
                  <a:pt x="274" y="368"/>
                  <a:pt x="273" y="367"/>
                </a:cubicBezTo>
                <a:cubicBezTo>
                  <a:pt x="272" y="367"/>
                  <a:pt x="271" y="367"/>
                  <a:pt x="271" y="366"/>
                </a:cubicBezTo>
                <a:lnTo>
                  <a:pt x="271" y="339"/>
                </a:lnTo>
                <a:close/>
                <a:moveTo>
                  <a:pt x="435" y="266"/>
                </a:moveTo>
                <a:cubicBezTo>
                  <a:pt x="465" y="262"/>
                  <a:pt x="465" y="262"/>
                  <a:pt x="465" y="262"/>
                </a:cubicBezTo>
                <a:cubicBezTo>
                  <a:pt x="465" y="29"/>
                  <a:pt x="465" y="29"/>
                  <a:pt x="465" y="29"/>
                </a:cubicBezTo>
                <a:cubicBezTo>
                  <a:pt x="437" y="22"/>
                  <a:pt x="437" y="22"/>
                  <a:pt x="437" y="22"/>
                </a:cubicBezTo>
                <a:cubicBezTo>
                  <a:pt x="437" y="7"/>
                  <a:pt x="437" y="7"/>
                  <a:pt x="437" y="7"/>
                </a:cubicBezTo>
                <a:cubicBezTo>
                  <a:pt x="491" y="0"/>
                  <a:pt x="491" y="0"/>
                  <a:pt x="491" y="0"/>
                </a:cubicBezTo>
                <a:cubicBezTo>
                  <a:pt x="498" y="4"/>
                  <a:pt x="498" y="4"/>
                  <a:pt x="498" y="4"/>
                </a:cubicBezTo>
                <a:cubicBezTo>
                  <a:pt x="498" y="262"/>
                  <a:pt x="498" y="262"/>
                  <a:pt x="498" y="262"/>
                </a:cubicBezTo>
                <a:cubicBezTo>
                  <a:pt x="529" y="266"/>
                  <a:pt x="529" y="266"/>
                  <a:pt x="529" y="266"/>
                </a:cubicBezTo>
                <a:cubicBezTo>
                  <a:pt x="529" y="280"/>
                  <a:pt x="529" y="280"/>
                  <a:pt x="529" y="280"/>
                </a:cubicBezTo>
                <a:cubicBezTo>
                  <a:pt x="435" y="280"/>
                  <a:pt x="435" y="280"/>
                  <a:pt x="435" y="280"/>
                </a:cubicBezTo>
                <a:lnTo>
                  <a:pt x="435" y="266"/>
                </a:lnTo>
                <a:close/>
                <a:moveTo>
                  <a:pt x="530" y="225"/>
                </a:moveTo>
                <a:cubicBezTo>
                  <a:pt x="530" y="217"/>
                  <a:pt x="533" y="210"/>
                  <a:pt x="537" y="204"/>
                </a:cubicBezTo>
                <a:cubicBezTo>
                  <a:pt x="542" y="198"/>
                  <a:pt x="547" y="192"/>
                  <a:pt x="553" y="188"/>
                </a:cubicBezTo>
                <a:cubicBezTo>
                  <a:pt x="560" y="184"/>
                  <a:pt x="567" y="180"/>
                  <a:pt x="575" y="177"/>
                </a:cubicBezTo>
                <a:cubicBezTo>
                  <a:pt x="583" y="174"/>
                  <a:pt x="591" y="172"/>
                  <a:pt x="599" y="170"/>
                </a:cubicBezTo>
                <a:cubicBezTo>
                  <a:pt x="607" y="169"/>
                  <a:pt x="614" y="167"/>
                  <a:pt x="622" y="167"/>
                </a:cubicBezTo>
                <a:cubicBezTo>
                  <a:pt x="629" y="166"/>
                  <a:pt x="635" y="166"/>
                  <a:pt x="641" y="166"/>
                </a:cubicBezTo>
                <a:cubicBezTo>
                  <a:pt x="641" y="151"/>
                  <a:pt x="641" y="151"/>
                  <a:pt x="641" y="151"/>
                </a:cubicBezTo>
                <a:cubicBezTo>
                  <a:pt x="641" y="142"/>
                  <a:pt x="639" y="134"/>
                  <a:pt x="637" y="128"/>
                </a:cubicBezTo>
                <a:cubicBezTo>
                  <a:pt x="635" y="123"/>
                  <a:pt x="631" y="118"/>
                  <a:pt x="627" y="115"/>
                </a:cubicBezTo>
                <a:cubicBezTo>
                  <a:pt x="623" y="112"/>
                  <a:pt x="618" y="110"/>
                  <a:pt x="612" y="109"/>
                </a:cubicBezTo>
                <a:cubicBezTo>
                  <a:pt x="606" y="107"/>
                  <a:pt x="600" y="107"/>
                  <a:pt x="593" y="107"/>
                </a:cubicBezTo>
                <a:cubicBezTo>
                  <a:pt x="590" y="107"/>
                  <a:pt x="586" y="107"/>
                  <a:pt x="582" y="108"/>
                </a:cubicBezTo>
                <a:cubicBezTo>
                  <a:pt x="578" y="108"/>
                  <a:pt x="574" y="109"/>
                  <a:pt x="569" y="110"/>
                </a:cubicBezTo>
                <a:cubicBezTo>
                  <a:pt x="565" y="112"/>
                  <a:pt x="561" y="113"/>
                  <a:pt x="556" y="115"/>
                </a:cubicBezTo>
                <a:cubicBezTo>
                  <a:pt x="552" y="116"/>
                  <a:pt x="547" y="118"/>
                  <a:pt x="543" y="120"/>
                </a:cubicBezTo>
                <a:cubicBezTo>
                  <a:pt x="537" y="104"/>
                  <a:pt x="537" y="104"/>
                  <a:pt x="537" y="104"/>
                </a:cubicBezTo>
                <a:cubicBezTo>
                  <a:pt x="541" y="101"/>
                  <a:pt x="546" y="98"/>
                  <a:pt x="553" y="95"/>
                </a:cubicBezTo>
                <a:cubicBezTo>
                  <a:pt x="559" y="93"/>
                  <a:pt x="565" y="91"/>
                  <a:pt x="572" y="89"/>
                </a:cubicBezTo>
                <a:cubicBezTo>
                  <a:pt x="578" y="87"/>
                  <a:pt x="584" y="86"/>
                  <a:pt x="590" y="85"/>
                </a:cubicBezTo>
                <a:cubicBezTo>
                  <a:pt x="597" y="84"/>
                  <a:pt x="602" y="84"/>
                  <a:pt x="606" y="84"/>
                </a:cubicBezTo>
                <a:cubicBezTo>
                  <a:pt x="615" y="84"/>
                  <a:pt x="624" y="85"/>
                  <a:pt x="632" y="87"/>
                </a:cubicBezTo>
                <a:cubicBezTo>
                  <a:pt x="640" y="89"/>
                  <a:pt x="648" y="92"/>
                  <a:pt x="654" y="97"/>
                </a:cubicBezTo>
                <a:cubicBezTo>
                  <a:pt x="660" y="102"/>
                  <a:pt x="665" y="108"/>
                  <a:pt x="668" y="116"/>
                </a:cubicBezTo>
                <a:cubicBezTo>
                  <a:pt x="672" y="124"/>
                  <a:pt x="674" y="134"/>
                  <a:pt x="674" y="147"/>
                </a:cubicBezTo>
                <a:cubicBezTo>
                  <a:pt x="674" y="266"/>
                  <a:pt x="674" y="266"/>
                  <a:pt x="674" y="266"/>
                </a:cubicBezTo>
                <a:cubicBezTo>
                  <a:pt x="696" y="266"/>
                  <a:pt x="696" y="266"/>
                  <a:pt x="696" y="266"/>
                </a:cubicBezTo>
                <a:cubicBezTo>
                  <a:pt x="696" y="277"/>
                  <a:pt x="696" y="277"/>
                  <a:pt x="696" y="277"/>
                </a:cubicBezTo>
                <a:cubicBezTo>
                  <a:pt x="692" y="279"/>
                  <a:pt x="687" y="281"/>
                  <a:pt x="681" y="282"/>
                </a:cubicBezTo>
                <a:cubicBezTo>
                  <a:pt x="675" y="284"/>
                  <a:pt x="669" y="284"/>
                  <a:pt x="663" y="284"/>
                </a:cubicBezTo>
                <a:cubicBezTo>
                  <a:pt x="661" y="284"/>
                  <a:pt x="659" y="284"/>
                  <a:pt x="656" y="284"/>
                </a:cubicBezTo>
                <a:cubicBezTo>
                  <a:pt x="654" y="284"/>
                  <a:pt x="652" y="283"/>
                  <a:pt x="650" y="282"/>
                </a:cubicBezTo>
                <a:cubicBezTo>
                  <a:pt x="648" y="281"/>
                  <a:pt x="646" y="279"/>
                  <a:pt x="645" y="276"/>
                </a:cubicBezTo>
                <a:cubicBezTo>
                  <a:pt x="643" y="274"/>
                  <a:pt x="643" y="271"/>
                  <a:pt x="643" y="266"/>
                </a:cubicBezTo>
                <a:cubicBezTo>
                  <a:pt x="643" y="262"/>
                  <a:pt x="643" y="262"/>
                  <a:pt x="643" y="262"/>
                </a:cubicBezTo>
                <a:cubicBezTo>
                  <a:pt x="640" y="265"/>
                  <a:pt x="637" y="268"/>
                  <a:pt x="633" y="271"/>
                </a:cubicBezTo>
                <a:cubicBezTo>
                  <a:pt x="630" y="273"/>
                  <a:pt x="625" y="276"/>
                  <a:pt x="621" y="278"/>
                </a:cubicBezTo>
                <a:cubicBezTo>
                  <a:pt x="616" y="280"/>
                  <a:pt x="611" y="281"/>
                  <a:pt x="605" y="283"/>
                </a:cubicBezTo>
                <a:cubicBezTo>
                  <a:pt x="599" y="284"/>
                  <a:pt x="592" y="284"/>
                  <a:pt x="585" y="284"/>
                </a:cubicBezTo>
                <a:cubicBezTo>
                  <a:pt x="576" y="284"/>
                  <a:pt x="568" y="283"/>
                  <a:pt x="561" y="279"/>
                </a:cubicBezTo>
                <a:cubicBezTo>
                  <a:pt x="554" y="276"/>
                  <a:pt x="547" y="272"/>
                  <a:pt x="543" y="266"/>
                </a:cubicBezTo>
                <a:cubicBezTo>
                  <a:pt x="538" y="261"/>
                  <a:pt x="534" y="255"/>
                  <a:pt x="532" y="248"/>
                </a:cubicBezTo>
                <a:cubicBezTo>
                  <a:pt x="529" y="240"/>
                  <a:pt x="529" y="233"/>
                  <a:pt x="530" y="225"/>
                </a:cubicBezTo>
                <a:close/>
                <a:moveTo>
                  <a:pt x="563" y="225"/>
                </a:moveTo>
                <a:cubicBezTo>
                  <a:pt x="563" y="232"/>
                  <a:pt x="564" y="238"/>
                  <a:pt x="566" y="243"/>
                </a:cubicBezTo>
                <a:cubicBezTo>
                  <a:pt x="568" y="247"/>
                  <a:pt x="570" y="251"/>
                  <a:pt x="574" y="254"/>
                </a:cubicBezTo>
                <a:cubicBezTo>
                  <a:pt x="577" y="257"/>
                  <a:pt x="582" y="259"/>
                  <a:pt x="587" y="260"/>
                </a:cubicBezTo>
                <a:cubicBezTo>
                  <a:pt x="592" y="262"/>
                  <a:pt x="597" y="262"/>
                  <a:pt x="604" y="262"/>
                </a:cubicBezTo>
                <a:cubicBezTo>
                  <a:pt x="607" y="262"/>
                  <a:pt x="611" y="262"/>
                  <a:pt x="614" y="261"/>
                </a:cubicBezTo>
                <a:cubicBezTo>
                  <a:pt x="618" y="260"/>
                  <a:pt x="621" y="259"/>
                  <a:pt x="624" y="258"/>
                </a:cubicBezTo>
                <a:cubicBezTo>
                  <a:pt x="628" y="256"/>
                  <a:pt x="631" y="255"/>
                  <a:pt x="634" y="253"/>
                </a:cubicBezTo>
                <a:cubicBezTo>
                  <a:pt x="636" y="251"/>
                  <a:pt x="639" y="249"/>
                  <a:pt x="640" y="248"/>
                </a:cubicBezTo>
                <a:cubicBezTo>
                  <a:pt x="640" y="237"/>
                  <a:pt x="640" y="226"/>
                  <a:pt x="640" y="215"/>
                </a:cubicBezTo>
                <a:cubicBezTo>
                  <a:pt x="640" y="205"/>
                  <a:pt x="641" y="194"/>
                  <a:pt x="641" y="183"/>
                </a:cubicBezTo>
                <a:cubicBezTo>
                  <a:pt x="636" y="183"/>
                  <a:pt x="631" y="184"/>
                  <a:pt x="625" y="184"/>
                </a:cubicBezTo>
                <a:cubicBezTo>
                  <a:pt x="619" y="185"/>
                  <a:pt x="613" y="186"/>
                  <a:pt x="608" y="187"/>
                </a:cubicBezTo>
                <a:cubicBezTo>
                  <a:pt x="602" y="188"/>
                  <a:pt x="596" y="190"/>
                  <a:pt x="591" y="192"/>
                </a:cubicBezTo>
                <a:cubicBezTo>
                  <a:pt x="585" y="194"/>
                  <a:pt x="581" y="196"/>
                  <a:pt x="577" y="200"/>
                </a:cubicBezTo>
                <a:cubicBezTo>
                  <a:pt x="572" y="203"/>
                  <a:pt x="569" y="206"/>
                  <a:pt x="567" y="211"/>
                </a:cubicBezTo>
                <a:cubicBezTo>
                  <a:pt x="564" y="215"/>
                  <a:pt x="563" y="220"/>
                  <a:pt x="563" y="225"/>
                </a:cubicBezTo>
                <a:close/>
                <a:moveTo>
                  <a:pt x="702" y="266"/>
                </a:moveTo>
                <a:cubicBezTo>
                  <a:pt x="725" y="262"/>
                  <a:pt x="725" y="262"/>
                  <a:pt x="725" y="262"/>
                </a:cubicBezTo>
                <a:cubicBezTo>
                  <a:pt x="725" y="122"/>
                  <a:pt x="725" y="122"/>
                  <a:pt x="725" y="122"/>
                </a:cubicBezTo>
                <a:cubicBezTo>
                  <a:pt x="701" y="108"/>
                  <a:pt x="701" y="108"/>
                  <a:pt x="701" y="108"/>
                </a:cubicBezTo>
                <a:cubicBezTo>
                  <a:pt x="701" y="98"/>
                  <a:pt x="701" y="98"/>
                  <a:pt x="701" y="98"/>
                </a:cubicBezTo>
                <a:cubicBezTo>
                  <a:pt x="746" y="84"/>
                  <a:pt x="746" y="84"/>
                  <a:pt x="746" y="84"/>
                </a:cubicBezTo>
                <a:cubicBezTo>
                  <a:pt x="754" y="87"/>
                  <a:pt x="754" y="87"/>
                  <a:pt x="754" y="87"/>
                </a:cubicBezTo>
                <a:cubicBezTo>
                  <a:pt x="754" y="112"/>
                  <a:pt x="754" y="112"/>
                  <a:pt x="754" y="112"/>
                </a:cubicBezTo>
                <a:cubicBezTo>
                  <a:pt x="758" y="109"/>
                  <a:pt x="763" y="105"/>
                  <a:pt x="768" y="102"/>
                </a:cubicBezTo>
                <a:cubicBezTo>
                  <a:pt x="774" y="99"/>
                  <a:pt x="780" y="96"/>
                  <a:pt x="786" y="93"/>
                </a:cubicBezTo>
                <a:cubicBezTo>
                  <a:pt x="792" y="91"/>
                  <a:pt x="798" y="88"/>
                  <a:pt x="805" y="87"/>
                </a:cubicBezTo>
                <a:cubicBezTo>
                  <a:pt x="812" y="85"/>
                  <a:pt x="818" y="84"/>
                  <a:pt x="824" y="84"/>
                </a:cubicBezTo>
                <a:cubicBezTo>
                  <a:pt x="834" y="84"/>
                  <a:pt x="843" y="85"/>
                  <a:pt x="850" y="88"/>
                </a:cubicBezTo>
                <a:cubicBezTo>
                  <a:pt x="858" y="91"/>
                  <a:pt x="864" y="96"/>
                  <a:pt x="868" y="102"/>
                </a:cubicBezTo>
                <a:cubicBezTo>
                  <a:pt x="873" y="109"/>
                  <a:pt x="876" y="117"/>
                  <a:pt x="878" y="128"/>
                </a:cubicBezTo>
                <a:cubicBezTo>
                  <a:pt x="880" y="138"/>
                  <a:pt x="881" y="150"/>
                  <a:pt x="881" y="165"/>
                </a:cubicBezTo>
                <a:cubicBezTo>
                  <a:pt x="881" y="262"/>
                  <a:pt x="881" y="262"/>
                  <a:pt x="881" y="262"/>
                </a:cubicBezTo>
                <a:cubicBezTo>
                  <a:pt x="908" y="266"/>
                  <a:pt x="908" y="266"/>
                  <a:pt x="908" y="266"/>
                </a:cubicBezTo>
                <a:cubicBezTo>
                  <a:pt x="908" y="280"/>
                  <a:pt x="908" y="280"/>
                  <a:pt x="908" y="280"/>
                </a:cubicBezTo>
                <a:cubicBezTo>
                  <a:pt x="822" y="280"/>
                  <a:pt x="822" y="280"/>
                  <a:pt x="822" y="280"/>
                </a:cubicBezTo>
                <a:cubicBezTo>
                  <a:pt x="822" y="266"/>
                  <a:pt x="822" y="266"/>
                  <a:pt x="822" y="266"/>
                </a:cubicBezTo>
                <a:cubicBezTo>
                  <a:pt x="848" y="262"/>
                  <a:pt x="848" y="262"/>
                  <a:pt x="848" y="262"/>
                </a:cubicBezTo>
                <a:cubicBezTo>
                  <a:pt x="848" y="171"/>
                  <a:pt x="848" y="171"/>
                  <a:pt x="848" y="171"/>
                </a:cubicBezTo>
                <a:cubicBezTo>
                  <a:pt x="848" y="160"/>
                  <a:pt x="847" y="151"/>
                  <a:pt x="846" y="143"/>
                </a:cubicBezTo>
                <a:cubicBezTo>
                  <a:pt x="845" y="135"/>
                  <a:pt x="843" y="129"/>
                  <a:pt x="840" y="124"/>
                </a:cubicBezTo>
                <a:cubicBezTo>
                  <a:pt x="837" y="118"/>
                  <a:pt x="833" y="115"/>
                  <a:pt x="827" y="112"/>
                </a:cubicBezTo>
                <a:cubicBezTo>
                  <a:pt x="822" y="110"/>
                  <a:pt x="815" y="109"/>
                  <a:pt x="806" y="109"/>
                </a:cubicBezTo>
                <a:cubicBezTo>
                  <a:pt x="799" y="109"/>
                  <a:pt x="791" y="111"/>
                  <a:pt x="783" y="114"/>
                </a:cubicBezTo>
                <a:cubicBezTo>
                  <a:pt x="776" y="117"/>
                  <a:pt x="767" y="121"/>
                  <a:pt x="758" y="127"/>
                </a:cubicBezTo>
                <a:cubicBezTo>
                  <a:pt x="758" y="262"/>
                  <a:pt x="758" y="262"/>
                  <a:pt x="758" y="262"/>
                </a:cubicBezTo>
                <a:cubicBezTo>
                  <a:pt x="784" y="266"/>
                  <a:pt x="784" y="266"/>
                  <a:pt x="784" y="266"/>
                </a:cubicBezTo>
                <a:cubicBezTo>
                  <a:pt x="784" y="280"/>
                  <a:pt x="784" y="280"/>
                  <a:pt x="784" y="280"/>
                </a:cubicBezTo>
                <a:cubicBezTo>
                  <a:pt x="702" y="280"/>
                  <a:pt x="702" y="280"/>
                  <a:pt x="702" y="280"/>
                </a:cubicBezTo>
                <a:lnTo>
                  <a:pt x="702" y="266"/>
                </a:lnTo>
                <a:close/>
                <a:moveTo>
                  <a:pt x="976" y="284"/>
                </a:moveTo>
                <a:cubicBezTo>
                  <a:pt x="966" y="284"/>
                  <a:pt x="957" y="282"/>
                  <a:pt x="947" y="279"/>
                </a:cubicBezTo>
                <a:cubicBezTo>
                  <a:pt x="938" y="275"/>
                  <a:pt x="930" y="269"/>
                  <a:pt x="923" y="261"/>
                </a:cubicBezTo>
                <a:cubicBezTo>
                  <a:pt x="917" y="253"/>
                  <a:pt x="911" y="243"/>
                  <a:pt x="907" y="230"/>
                </a:cubicBezTo>
                <a:cubicBezTo>
                  <a:pt x="902" y="218"/>
                  <a:pt x="900" y="204"/>
                  <a:pt x="900" y="187"/>
                </a:cubicBezTo>
                <a:cubicBezTo>
                  <a:pt x="900" y="172"/>
                  <a:pt x="903" y="157"/>
                  <a:pt x="908" y="144"/>
                </a:cubicBezTo>
                <a:cubicBezTo>
                  <a:pt x="913" y="132"/>
                  <a:pt x="920" y="120"/>
                  <a:pt x="929" y="111"/>
                </a:cubicBezTo>
                <a:cubicBezTo>
                  <a:pt x="938" y="102"/>
                  <a:pt x="949" y="95"/>
                  <a:pt x="961" y="89"/>
                </a:cubicBezTo>
                <a:cubicBezTo>
                  <a:pt x="973" y="84"/>
                  <a:pt x="986" y="82"/>
                  <a:pt x="1000" y="82"/>
                </a:cubicBezTo>
                <a:cubicBezTo>
                  <a:pt x="1006" y="82"/>
                  <a:pt x="1012" y="82"/>
                  <a:pt x="1018" y="83"/>
                </a:cubicBezTo>
                <a:cubicBezTo>
                  <a:pt x="1023" y="84"/>
                  <a:pt x="1028" y="85"/>
                  <a:pt x="1032" y="86"/>
                </a:cubicBezTo>
                <a:cubicBezTo>
                  <a:pt x="1032" y="29"/>
                  <a:pt x="1032" y="29"/>
                  <a:pt x="1032" y="29"/>
                </a:cubicBezTo>
                <a:cubicBezTo>
                  <a:pt x="996" y="22"/>
                  <a:pt x="996" y="22"/>
                  <a:pt x="996" y="22"/>
                </a:cubicBezTo>
                <a:cubicBezTo>
                  <a:pt x="996" y="7"/>
                  <a:pt x="996" y="7"/>
                  <a:pt x="996" y="7"/>
                </a:cubicBezTo>
                <a:cubicBezTo>
                  <a:pt x="1058" y="0"/>
                  <a:pt x="1058" y="0"/>
                  <a:pt x="1058" y="0"/>
                </a:cubicBezTo>
                <a:cubicBezTo>
                  <a:pt x="1065" y="4"/>
                  <a:pt x="1065" y="4"/>
                  <a:pt x="1065" y="4"/>
                </a:cubicBezTo>
                <a:cubicBezTo>
                  <a:pt x="1065" y="266"/>
                  <a:pt x="1065" y="266"/>
                  <a:pt x="1065" y="266"/>
                </a:cubicBezTo>
                <a:cubicBezTo>
                  <a:pt x="1089" y="266"/>
                  <a:pt x="1089" y="266"/>
                  <a:pt x="1089" y="266"/>
                </a:cubicBezTo>
                <a:cubicBezTo>
                  <a:pt x="1089" y="278"/>
                  <a:pt x="1089" y="278"/>
                  <a:pt x="1089" y="278"/>
                </a:cubicBezTo>
                <a:cubicBezTo>
                  <a:pt x="1087" y="279"/>
                  <a:pt x="1084" y="280"/>
                  <a:pt x="1081" y="281"/>
                </a:cubicBezTo>
                <a:cubicBezTo>
                  <a:pt x="1078" y="282"/>
                  <a:pt x="1075" y="283"/>
                  <a:pt x="1072" y="284"/>
                </a:cubicBezTo>
                <a:cubicBezTo>
                  <a:pt x="1069" y="284"/>
                  <a:pt x="1066" y="285"/>
                  <a:pt x="1062" y="285"/>
                </a:cubicBezTo>
                <a:cubicBezTo>
                  <a:pt x="1059" y="286"/>
                  <a:pt x="1056" y="286"/>
                  <a:pt x="1053" y="286"/>
                </a:cubicBezTo>
                <a:cubicBezTo>
                  <a:pt x="1051" y="286"/>
                  <a:pt x="1048" y="286"/>
                  <a:pt x="1046" y="285"/>
                </a:cubicBezTo>
                <a:cubicBezTo>
                  <a:pt x="1044" y="285"/>
                  <a:pt x="1042" y="284"/>
                  <a:pt x="1040" y="283"/>
                </a:cubicBezTo>
                <a:cubicBezTo>
                  <a:pt x="1038" y="282"/>
                  <a:pt x="1037" y="280"/>
                  <a:pt x="1035" y="278"/>
                </a:cubicBezTo>
                <a:cubicBezTo>
                  <a:pt x="1034" y="275"/>
                  <a:pt x="1034" y="272"/>
                  <a:pt x="1034" y="268"/>
                </a:cubicBezTo>
                <a:cubicBezTo>
                  <a:pt x="1034" y="264"/>
                  <a:pt x="1034" y="264"/>
                  <a:pt x="1034" y="264"/>
                </a:cubicBezTo>
                <a:cubicBezTo>
                  <a:pt x="1032" y="266"/>
                  <a:pt x="1029" y="268"/>
                  <a:pt x="1026" y="270"/>
                </a:cubicBezTo>
                <a:cubicBezTo>
                  <a:pt x="1023" y="273"/>
                  <a:pt x="1019" y="275"/>
                  <a:pt x="1014" y="277"/>
                </a:cubicBezTo>
                <a:cubicBezTo>
                  <a:pt x="1009" y="279"/>
                  <a:pt x="1003" y="281"/>
                  <a:pt x="997" y="282"/>
                </a:cubicBezTo>
                <a:cubicBezTo>
                  <a:pt x="990" y="284"/>
                  <a:pt x="983" y="284"/>
                  <a:pt x="976" y="284"/>
                </a:cubicBezTo>
                <a:close/>
                <a:moveTo>
                  <a:pt x="989" y="261"/>
                </a:moveTo>
                <a:cubicBezTo>
                  <a:pt x="993" y="261"/>
                  <a:pt x="996" y="260"/>
                  <a:pt x="999" y="260"/>
                </a:cubicBezTo>
                <a:cubicBezTo>
                  <a:pt x="1002" y="260"/>
                  <a:pt x="1005" y="259"/>
                  <a:pt x="1008" y="258"/>
                </a:cubicBezTo>
                <a:cubicBezTo>
                  <a:pt x="1014" y="257"/>
                  <a:pt x="1018" y="255"/>
                  <a:pt x="1022" y="253"/>
                </a:cubicBezTo>
                <a:cubicBezTo>
                  <a:pt x="1026" y="251"/>
                  <a:pt x="1030" y="248"/>
                  <a:pt x="1032" y="246"/>
                </a:cubicBezTo>
                <a:cubicBezTo>
                  <a:pt x="1032" y="114"/>
                  <a:pt x="1032" y="114"/>
                  <a:pt x="1032" y="114"/>
                </a:cubicBezTo>
                <a:cubicBezTo>
                  <a:pt x="1031" y="112"/>
                  <a:pt x="1030" y="111"/>
                  <a:pt x="1028" y="109"/>
                </a:cubicBezTo>
                <a:cubicBezTo>
                  <a:pt x="1026" y="107"/>
                  <a:pt x="1024" y="106"/>
                  <a:pt x="1021" y="105"/>
                </a:cubicBezTo>
                <a:cubicBezTo>
                  <a:pt x="1018" y="103"/>
                  <a:pt x="1014" y="102"/>
                  <a:pt x="1010" y="101"/>
                </a:cubicBezTo>
                <a:cubicBezTo>
                  <a:pt x="1006" y="100"/>
                  <a:pt x="1001" y="100"/>
                  <a:pt x="996" y="100"/>
                </a:cubicBezTo>
                <a:cubicBezTo>
                  <a:pt x="991" y="100"/>
                  <a:pt x="987" y="101"/>
                  <a:pt x="982" y="102"/>
                </a:cubicBezTo>
                <a:cubicBezTo>
                  <a:pt x="977" y="103"/>
                  <a:pt x="973" y="104"/>
                  <a:pt x="968" y="107"/>
                </a:cubicBezTo>
                <a:cubicBezTo>
                  <a:pt x="964" y="110"/>
                  <a:pt x="959" y="113"/>
                  <a:pt x="955" y="117"/>
                </a:cubicBezTo>
                <a:cubicBezTo>
                  <a:pt x="951" y="121"/>
                  <a:pt x="947" y="126"/>
                  <a:pt x="944" y="132"/>
                </a:cubicBezTo>
                <a:cubicBezTo>
                  <a:pt x="941" y="137"/>
                  <a:pt x="938" y="144"/>
                  <a:pt x="936" y="152"/>
                </a:cubicBezTo>
                <a:cubicBezTo>
                  <a:pt x="934" y="160"/>
                  <a:pt x="933" y="169"/>
                  <a:pt x="933" y="179"/>
                </a:cubicBezTo>
                <a:cubicBezTo>
                  <a:pt x="933" y="193"/>
                  <a:pt x="934" y="205"/>
                  <a:pt x="937" y="215"/>
                </a:cubicBezTo>
                <a:cubicBezTo>
                  <a:pt x="941" y="226"/>
                  <a:pt x="945" y="234"/>
                  <a:pt x="950" y="241"/>
                </a:cubicBezTo>
                <a:cubicBezTo>
                  <a:pt x="955" y="248"/>
                  <a:pt x="961" y="253"/>
                  <a:pt x="968" y="256"/>
                </a:cubicBezTo>
                <a:cubicBezTo>
                  <a:pt x="975" y="259"/>
                  <a:pt x="982" y="261"/>
                  <a:pt x="989" y="261"/>
                </a:cubicBezTo>
                <a:close/>
                <a:moveTo>
                  <a:pt x="1098" y="1"/>
                </a:moveTo>
                <a:cubicBezTo>
                  <a:pt x="1109" y="1"/>
                  <a:pt x="1119" y="10"/>
                  <a:pt x="1119" y="21"/>
                </a:cubicBezTo>
                <a:cubicBezTo>
                  <a:pt x="1119" y="33"/>
                  <a:pt x="1109" y="42"/>
                  <a:pt x="1098" y="42"/>
                </a:cubicBezTo>
                <a:cubicBezTo>
                  <a:pt x="1086" y="42"/>
                  <a:pt x="1077" y="33"/>
                  <a:pt x="1077" y="21"/>
                </a:cubicBezTo>
                <a:cubicBezTo>
                  <a:pt x="1077" y="10"/>
                  <a:pt x="1086" y="1"/>
                  <a:pt x="1098" y="1"/>
                </a:cubicBezTo>
                <a:close/>
                <a:moveTo>
                  <a:pt x="1098" y="39"/>
                </a:moveTo>
                <a:cubicBezTo>
                  <a:pt x="1108" y="39"/>
                  <a:pt x="1115" y="32"/>
                  <a:pt x="1115" y="21"/>
                </a:cubicBezTo>
                <a:cubicBezTo>
                  <a:pt x="1115" y="11"/>
                  <a:pt x="1108" y="4"/>
                  <a:pt x="1098" y="4"/>
                </a:cubicBezTo>
                <a:cubicBezTo>
                  <a:pt x="1088" y="4"/>
                  <a:pt x="1081" y="11"/>
                  <a:pt x="1081" y="21"/>
                </a:cubicBezTo>
                <a:cubicBezTo>
                  <a:pt x="1081" y="32"/>
                  <a:pt x="1088" y="39"/>
                  <a:pt x="1098" y="39"/>
                </a:cubicBezTo>
                <a:close/>
                <a:moveTo>
                  <a:pt x="1090" y="9"/>
                </a:moveTo>
                <a:cubicBezTo>
                  <a:pt x="1099" y="9"/>
                  <a:pt x="1099" y="9"/>
                  <a:pt x="1099" y="9"/>
                </a:cubicBezTo>
                <a:cubicBezTo>
                  <a:pt x="1105" y="9"/>
                  <a:pt x="1108" y="12"/>
                  <a:pt x="1108" y="16"/>
                </a:cubicBezTo>
                <a:cubicBezTo>
                  <a:pt x="1108" y="21"/>
                  <a:pt x="1105" y="23"/>
                  <a:pt x="1101" y="23"/>
                </a:cubicBezTo>
                <a:cubicBezTo>
                  <a:pt x="1108" y="34"/>
                  <a:pt x="1108" y="34"/>
                  <a:pt x="1108" y="34"/>
                </a:cubicBezTo>
                <a:cubicBezTo>
                  <a:pt x="1104" y="34"/>
                  <a:pt x="1104" y="34"/>
                  <a:pt x="1104" y="34"/>
                </a:cubicBezTo>
                <a:cubicBezTo>
                  <a:pt x="1098" y="23"/>
                  <a:pt x="1098" y="23"/>
                  <a:pt x="1098" y="23"/>
                </a:cubicBezTo>
                <a:cubicBezTo>
                  <a:pt x="1094" y="23"/>
                  <a:pt x="1094" y="23"/>
                  <a:pt x="1094" y="23"/>
                </a:cubicBezTo>
                <a:cubicBezTo>
                  <a:pt x="1094" y="34"/>
                  <a:pt x="1094" y="34"/>
                  <a:pt x="1094" y="34"/>
                </a:cubicBezTo>
                <a:cubicBezTo>
                  <a:pt x="1090" y="34"/>
                  <a:pt x="1090" y="34"/>
                  <a:pt x="1090" y="34"/>
                </a:cubicBezTo>
                <a:lnTo>
                  <a:pt x="1090" y="9"/>
                </a:lnTo>
                <a:close/>
                <a:moveTo>
                  <a:pt x="1094" y="20"/>
                </a:moveTo>
                <a:cubicBezTo>
                  <a:pt x="1097" y="20"/>
                  <a:pt x="1097" y="20"/>
                  <a:pt x="1097" y="20"/>
                </a:cubicBezTo>
                <a:cubicBezTo>
                  <a:pt x="1101" y="20"/>
                  <a:pt x="1104" y="20"/>
                  <a:pt x="1104" y="16"/>
                </a:cubicBezTo>
                <a:cubicBezTo>
                  <a:pt x="1104" y="13"/>
                  <a:pt x="1101" y="12"/>
                  <a:pt x="1099" y="12"/>
                </a:cubicBezTo>
                <a:cubicBezTo>
                  <a:pt x="1094" y="12"/>
                  <a:pt x="1094" y="12"/>
                  <a:pt x="1094" y="12"/>
                </a:cubicBezTo>
                <a:lnTo>
                  <a:pt x="1094" y="20"/>
                </a:lnTo>
                <a:close/>
              </a:path>
            </a:pathLst>
          </a:custGeom>
          <a:gradFill>
            <a:gsLst>
              <a:gs pos="0">
                <a:srgbClr val="53BD4E"/>
              </a:gs>
              <a:gs pos="99000">
                <a:srgbClr val="54C8E8"/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0" hasCustomPrompt="1"/>
          </p:nvPr>
        </p:nvSpPr>
        <p:spPr>
          <a:xfrm>
            <a:off x="2438400" y="4572000"/>
            <a:ext cx="7315200" cy="457200"/>
          </a:xfrm>
        </p:spPr>
        <p:txBody>
          <a:bodyPr>
            <a:noAutofit/>
          </a:bodyPr>
          <a:lstStyle>
            <a:lvl1pPr marL="5715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bg1"/>
                </a:solidFill>
              </a:defRPr>
            </a:lvl2pPr>
            <a:lvl3pPr marL="800100" indent="0" algn="ctr">
              <a:buNone/>
              <a:defRPr sz="1800">
                <a:solidFill>
                  <a:schemeClr val="bg1"/>
                </a:solidFill>
              </a:defRPr>
            </a:lvl3pPr>
            <a:lvl4pPr marL="1198563" indent="0" algn="ctr">
              <a:buNone/>
              <a:defRPr sz="1600">
                <a:solidFill>
                  <a:schemeClr val="bg1"/>
                </a:solidFill>
              </a:defRPr>
            </a:lvl4pPr>
            <a:lvl5pPr marL="1604962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&lt;Call to action&gt;</a:t>
            </a:r>
          </a:p>
        </p:txBody>
      </p:sp>
    </p:spTree>
    <p:extLst>
      <p:ext uri="{BB962C8B-B14F-4D97-AF65-F5344CB8AC3E}">
        <p14:creationId xmlns:p14="http://schemas.microsoft.com/office/powerpoint/2010/main" val="15857431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1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7" presetClass="exit" presetSubtype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path" presetSubtype="0" accel="70000" decel="2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4 " pathEditMode="relative" rAng="0" ptsTypes="AA">
                                      <p:cBhvr>
                                        <p:cTn id="38" dur="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022E-16 L 0 0.01667 " pathEditMode="relative" rAng="0" ptsTypes="AA">
                                      <p:cBhvr>
                                        <p:cTn id="40" dur="13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33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" presetClass="emph" presetSubtype="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130" fill="hold"/>
                                        <p:tgtEl>
                                          <p:spTgt spid="24"/>
                                        </p:tgtEl>
                                      </p:cBhvr>
                                      <p:by x="1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7" presetClass="exit" presetSubtype="1" fill="hold" grpId="1" nodeType="withEffect">
                                  <p:stCondLst>
                                    <p:cond delay="17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7" presetClass="exit" presetSubtype="1" fill="hold" grpId="1" nodeType="withEffect">
                                  <p:stCondLst>
                                    <p:cond delay="17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6" presetClass="emph" presetSubtype="0" fill="hold" grpId="2" nodeType="withEffect">
                                  <p:stCondLst>
                                    <p:cond delay="170"/>
                                  </p:stCondLst>
                                  <p:childTnLst>
                                    <p:animScale>
                                      <p:cBhvr>
                                        <p:cTn id="56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6" presetClass="emph" presetSubtype="0" fill="hold" grpId="2" nodeType="withEffect">
                                  <p:stCondLst>
                                    <p:cond delay="170"/>
                                  </p:stCondLst>
                                  <p:childTnLst>
                                    <p:animScale>
                                      <p:cBhvr>
                                        <p:cTn id="58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path" presetSubtype="0" decel="100000" fill="hold" grpId="1" nodeType="withEffect">
                                  <p:stCondLst>
                                    <p:cond delay="380"/>
                                  </p:stCondLst>
                                  <p:childTnLst>
                                    <p:animMotion origin="layout" path="M 0 1.85185E-6 L 0 0.1 " pathEditMode="relative" rAng="0" ptsTypes="AA">
                                      <p:cBhvr>
                                        <p:cTn id="63" dur="25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0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7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path" presetSubtype="0" accel="70000" decel="3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764 L 5.55112E-17 0.14236 " pathEditMode="relative" rAng="0" ptsTypes="AA">
                                      <p:cBhvr>
                                        <p:cTn id="69" dur="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6" presetClass="emph" presetSubtype="0" accel="26000" decel="74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1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17" presetClass="exit" presetSubtype="10" fill="hold" grpId="3" nodeType="withEffect">
                                  <p:stCondLst>
                                    <p:cond delay="13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3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37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7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path" presetSubtype="0" accel="70000" decel="3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764 L 0 0.14236 " pathEditMode="relative" rAng="0" ptsTypes="AA">
                                      <p:cBhvr>
                                        <p:cTn id="81" dur="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6" presetClass="emph" presetSubtype="0" accel="26000" decel="74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3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84" presetID="17" presetClass="exit" presetSubtype="10" fill="hold" grpId="3" nodeType="withEffect">
                                  <p:stCondLst>
                                    <p:cond delay="130"/>
                                  </p:stCondLst>
                                  <p:childTnLst>
                                    <p:anim calcmode="lin" valueType="num">
                                      <p:cBhvr>
                                        <p:cTn id="85" dur="3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37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630"/>
                            </p:stCondLst>
                            <p:childTnLst>
                              <p:par>
                                <p:cTn id="8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13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5" grpId="0" animBg="1"/>
      <p:bldP spid="25" grpId="1" animBg="1"/>
      <p:bldP spid="25" grpId="2" animBg="1"/>
      <p:bldP spid="25" grpId="3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8" grpId="0" animBg="1"/>
      <p:bldP spid="28" grpId="1" animBg="1"/>
      <p:bldP spid="29" grpId="0" animBg="1"/>
      <p:bldP spid="29" grpId="1" animBg="1"/>
      <p:bldP spid="29" grpId="2" animBg="1"/>
      <p:bldP spid="29" grpId="3" animBg="1"/>
      <p:bldP spid="31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ram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275844" y="274320"/>
            <a:ext cx="11640312" cy="6309360"/>
          </a:xfrm>
          <a:prstGeom prst="rect">
            <a:avLst/>
          </a:prstGeom>
          <a:noFill/>
          <a:ln w="57150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  <a:lin ang="5400000" scaled="1"/>
            </a:gra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600512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1118-6541-467B-AB71-EAB04611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6858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B97EB-ED75-4EDB-8F10-F21465C79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43000"/>
            <a:ext cx="8686800" cy="5257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B1A47-1029-4EF2-AB59-A978C590A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96400" y="1143000"/>
            <a:ext cx="2514600" cy="52578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68143-0EE0-4783-89E1-5EA55EC5D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BB4D3-DC82-4F22-84F1-DA3E8BF67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A4EFE-6E2A-4694-BE6D-C4EB3FAB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2549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2049-244A-43A9-88AF-6787D327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6858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8E15E2-4FEA-40B8-945D-0B65E7AB7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124200" y="1143000"/>
            <a:ext cx="8686800" cy="5257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CC6DC-B05C-4067-BC75-5292D1CF2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0" y="1143000"/>
            <a:ext cx="2514599" cy="52578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9517C-C18A-4977-84E8-E92783D41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D6DB1-8D60-4505-A190-4A11920A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2A32F-FDE5-4A2A-A5AF-32CCAB7B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02843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99D5C-A5D8-4D18-92D3-1790284F7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90A79-549C-47E8-92BE-BDE73DBB4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E81E6-4801-4B57-BCF5-7A9571257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8FF66-4096-4B53-BDE2-48B92948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9FE22-CE81-47A2-9C57-58EADEE2B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1A0692-27FF-492F-82F1-7C5A96123CBF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73769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EE3BAA-4353-4449-B9AC-D52594A670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96400" y="228600"/>
            <a:ext cx="251460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E1CD9-D44A-45C2-A358-22F8C3110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868680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1B038-654A-4C00-8E40-A96929AE5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CB0D3-C000-4D4E-BCB4-E950A3FD1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58687-6661-4CCF-9D72-C63BAC7E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4F799F-F405-43CF-BB9D-38C9E6354058}"/>
              </a:ext>
            </a:extLst>
          </p:cNvPr>
          <p:cNvCxnSpPr>
            <a:cxnSpLocks/>
          </p:cNvCxnSpPr>
          <p:nvPr userDrawn="1"/>
        </p:nvCxnSpPr>
        <p:spPr>
          <a:xfrm>
            <a:off x="9182100" y="228600"/>
            <a:ext cx="0" cy="640080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2"/>
                </a:gs>
                <a:gs pos="99000">
                  <a:schemeClr val="accent1"/>
                </a:gs>
              </a:gsLst>
              <a:lin ang="5400000" scaled="1"/>
              <a:tileRect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67173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76144-3494-48F5-912E-6FE667D2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1"/>
            <a:ext cx="11430000" cy="685799"/>
          </a:xfrm>
          <a:prstGeom prst="rect">
            <a:avLst/>
          </a:prstGeom>
        </p:spPr>
        <p:txBody>
          <a:bodyPr vert="horz" lIns="0" tIns="4572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2797A-0E14-474C-848E-06912870A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143000"/>
            <a:ext cx="11430000" cy="5257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A217E-6DDA-4383-B366-A0FA149DB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629400"/>
            <a:ext cx="1371600" cy="1143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8763E-B898-436D-883D-03711491D5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E200A-1E68-4329-B3DC-2AB4387CC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629401"/>
            <a:ext cx="7772400" cy="1143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1512A-0CCA-42A8-A940-F6DF060CC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9400" y="6629400"/>
            <a:ext cx="1371600" cy="114299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7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83" r:id="rId4"/>
    <p:sldLayoutId id="2147483684" r:id="rId5"/>
    <p:sldLayoutId id="2147483654" r:id="rId6"/>
    <p:sldLayoutId id="2147483650" r:id="rId7"/>
    <p:sldLayoutId id="2147483663" r:id="rId8"/>
    <p:sldLayoutId id="2147483662" r:id="rId9"/>
    <p:sldLayoutId id="2147483651" r:id="rId10"/>
    <p:sldLayoutId id="2147483664" r:id="rId11"/>
    <p:sldLayoutId id="2147483665" r:id="rId12"/>
    <p:sldLayoutId id="2147483652" r:id="rId13"/>
    <p:sldLayoutId id="2147483666" r:id="rId14"/>
    <p:sldLayoutId id="2147483667" r:id="rId15"/>
    <p:sldLayoutId id="2147483653" r:id="rId16"/>
    <p:sldLayoutId id="2147483668" r:id="rId17"/>
    <p:sldLayoutId id="2147483669" r:id="rId18"/>
    <p:sldLayoutId id="2147483655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2" r:id="rId31"/>
    <p:sldLayoutId id="2147483681" r:id="rId32"/>
    <p:sldLayoutId id="2147483685" r:id="rId33"/>
    <p:sldLayoutId id="2147483656" r:id="rId34"/>
    <p:sldLayoutId id="2147483657" r:id="rId35"/>
    <p:sldLayoutId id="2147483658" r:id="rId36"/>
    <p:sldLayoutId id="2147483659" r:id="rId37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3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84313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89125" indent="-2841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44" userDrawn="1">
          <p15:clr>
            <a:srgbClr val="F26B43"/>
          </p15:clr>
        </p15:guide>
        <p15:guide id="4" orient="horz" pos="4176" userDrawn="1">
          <p15:clr>
            <a:srgbClr val="F26B43"/>
          </p15:clr>
        </p15:guide>
        <p15:guide id="5" pos="240" userDrawn="1">
          <p15:clr>
            <a:srgbClr val="F26B43"/>
          </p15:clr>
        </p15:guide>
        <p15:guide id="6" pos="74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hoose_Your_Own_Adventur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0999" y="228600"/>
            <a:ext cx="8801101" cy="2743200"/>
          </a:xfrm>
        </p:spPr>
        <p:txBody>
          <a:bodyPr>
            <a:noAutofit/>
          </a:bodyPr>
          <a:lstStyle/>
          <a:p>
            <a:r>
              <a:rPr lang="en-US" sz="6600" dirty="0"/>
              <a:t>Interactive Storytelling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3377207" cy="553998"/>
          </a:xfrm>
        </p:spPr>
        <p:txBody>
          <a:bodyPr/>
          <a:lstStyle/>
          <a:p>
            <a:r>
              <a:rPr lang="en-US" dirty="0"/>
              <a:t>MCCCC Session</a:t>
            </a:r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1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988083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1 Best CHOOSE YOUR OWN ADVENTURE Books (Oh, the nostalgia!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618362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0" y="1143000"/>
            <a:ext cx="8001000" cy="5257800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In these books, the reader decides what happens </a:t>
            </a:r>
          </a:p>
          <a:p>
            <a:endParaRPr lang="en-US" dirty="0"/>
          </a:p>
          <a:p>
            <a:r>
              <a:rPr lang="en-US" dirty="0"/>
              <a:t>The stories are </a:t>
            </a:r>
            <a:r>
              <a:rPr lang="en-US" i="1" dirty="0"/>
              <a:t>non-linear</a:t>
            </a:r>
          </a:p>
          <a:p>
            <a:endParaRPr lang="en-US" dirty="0"/>
          </a:p>
          <a:p>
            <a:r>
              <a:rPr lang="en-US" dirty="0"/>
              <a:t>The reader usually controls the main character</a:t>
            </a:r>
          </a:p>
          <a:p>
            <a:pPr marL="57150" indent="0">
              <a:buNone/>
            </a:pPr>
            <a:endParaRPr lang="en-US" dirty="0"/>
          </a:p>
          <a:p>
            <a:r>
              <a:rPr lang="en-US" dirty="0"/>
              <a:t>These books are the physical version of </a:t>
            </a:r>
            <a:r>
              <a:rPr lang="en-US" i="1" dirty="0"/>
              <a:t>interactive fiction</a:t>
            </a:r>
            <a:endParaRPr lang="en-US" dirty="0"/>
          </a:p>
        </p:txBody>
      </p:sp>
      <p:pic>
        <p:nvPicPr>
          <p:cNvPr id="2050" name="Picture 2" descr="Space Patrol (Choose Your Own Adventure, #22) by Julius Goodma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09" r="20267"/>
          <a:stretch/>
        </p:blipFill>
        <p:spPr bwMode="auto">
          <a:xfrm>
            <a:off x="381000" y="1143000"/>
            <a:ext cx="3213808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9834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fiction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11430000" cy="1828800"/>
          </a:xfrm>
        </p:spPr>
        <p:txBody>
          <a:bodyPr/>
          <a:lstStyle/>
          <a:p>
            <a:r>
              <a:rPr lang="en-US" dirty="0"/>
              <a:t>Works of interactive fiction are essentially </a:t>
            </a:r>
            <a:r>
              <a:rPr lang="en-US" i="1" dirty="0"/>
              <a:t>digital gamebooks</a:t>
            </a:r>
            <a:endParaRPr lang="en-US" dirty="0"/>
          </a:p>
          <a:p>
            <a:r>
              <a:rPr lang="en-US" dirty="0"/>
              <a:t>They often include additional elements like inventory, stats, and more</a:t>
            </a:r>
          </a:p>
          <a:p>
            <a:r>
              <a:rPr lang="en-US" dirty="0"/>
              <a:t>They can have very interesting branching patterns</a:t>
            </a:r>
          </a:p>
        </p:txBody>
      </p:sp>
      <p:pic>
        <p:nvPicPr>
          <p:cNvPr id="3074" name="Picture 2" descr="Standard Patterns in Choice-Based Games | These Heterogenous Tas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3771900"/>
            <a:ext cx="6191250" cy="220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97201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Fiction 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14" y="1658607"/>
            <a:ext cx="11650286" cy="422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0159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1120"/>
            <a:ext cx="10972800" cy="1375761"/>
          </a:xfrm>
        </p:spPr>
        <p:txBody>
          <a:bodyPr/>
          <a:lstStyle/>
          <a:p>
            <a:r>
              <a:rPr lang="en-US" dirty="0"/>
              <a:t>SO how can someone make an interactive fiction game?</a:t>
            </a:r>
          </a:p>
        </p:txBody>
      </p:sp>
    </p:spTree>
    <p:extLst>
      <p:ext uri="{BB962C8B-B14F-4D97-AF65-F5344CB8AC3E}">
        <p14:creationId xmlns:p14="http://schemas.microsoft.com/office/powerpoint/2010/main" val="217566451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Twine</a:t>
            </a:r>
          </a:p>
        </p:txBody>
      </p:sp>
      <p:pic>
        <p:nvPicPr>
          <p:cNvPr id="4098" name="Picture 2" descr="1.5mm Natural, European Hemp Butchers Twine - 1Kg Large Spool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692911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6057900"/>
            <a:ext cx="11430000" cy="571500"/>
          </a:xfrm>
        </p:spPr>
        <p:txBody>
          <a:bodyPr/>
          <a:lstStyle/>
          <a:p>
            <a:pPr marL="57150" indent="0">
              <a:buNone/>
            </a:pPr>
            <a:r>
              <a:rPr lang="en-US" b="1" dirty="0"/>
              <a:t>Twine</a:t>
            </a:r>
            <a:r>
              <a:rPr lang="en-US" dirty="0"/>
              <a:t> is an open-source tool for telling interactive, non-linear stories</a:t>
            </a:r>
          </a:p>
        </p:txBody>
      </p:sp>
      <p:pic>
        <p:nvPicPr>
          <p:cNvPr id="5122" name="Picture 2" descr="Free Technology for Teachers: Twine - Write Choose-Your-Own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240"/>
            <a:ext cx="12192000" cy="5844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32899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Passages and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passage</a:t>
            </a:r>
            <a:r>
              <a:rPr lang="en-US" dirty="0"/>
              <a:t> in Twine is one page of a story</a:t>
            </a:r>
          </a:p>
          <a:p>
            <a:r>
              <a:rPr lang="en-US" dirty="0"/>
              <a:t>A </a:t>
            </a:r>
            <a:r>
              <a:rPr lang="en-US" b="1" dirty="0"/>
              <a:t>link</a:t>
            </a:r>
            <a:r>
              <a:rPr lang="en-US" dirty="0"/>
              <a:t> in Twine allows the player to go from one passage to another</a:t>
            </a:r>
          </a:p>
          <a:p>
            <a:endParaRPr lang="en-US" dirty="0"/>
          </a:p>
        </p:txBody>
      </p:sp>
      <p:pic>
        <p:nvPicPr>
          <p:cNvPr id="6148" name="Picture 4" descr="Twine for Beginners: Using Variables | Damon L. Wak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81275"/>
            <a:ext cx="4752975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 bwMode="auto">
          <a:xfrm>
            <a:off x="5410200" y="2581275"/>
            <a:ext cx="6400800" cy="381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2">
                <a:lumMod val="50000"/>
              </a:schemeClr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ea typeface="Segoe UI" pitchFamily="34" charset="0"/>
                <a:cs typeface="Segoe UI" pitchFamily="34" charset="0"/>
              </a:rPr>
              <a:t>Links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1" dirty="0">
              <a:solidFill>
                <a:schemeClr val="accent2">
                  <a:lumMod val="50000"/>
                </a:schemeClr>
              </a:solidFill>
              <a:ea typeface="Segoe UI" pitchFamily="34" charset="0"/>
              <a:cs typeface="Segoe UI" pitchFamily="34" charset="0"/>
            </a:endParaRPr>
          </a:p>
          <a:p>
            <a:pPr marL="342900" indent="-342900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  <a:ea typeface="Segoe UI" pitchFamily="34" charset="0"/>
                <a:cs typeface="Segoe UI" pitchFamily="34" charset="0"/>
              </a:rPr>
              <a:t>To create a link to another passage:</a:t>
            </a:r>
          </a:p>
          <a:p>
            <a:pPr marL="800100" lvl="1" indent="-342900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8300"/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[[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next passage</a:t>
            </a:r>
            <a:r>
              <a:rPr lang="en-US" sz="2800" b="1" dirty="0">
                <a:solidFill>
                  <a:srgbClr val="FF8300"/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]]</a:t>
            </a:r>
          </a:p>
          <a:p>
            <a:pPr marL="800100" lvl="1" indent="-342900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accent2">
                  <a:lumMod val="50000"/>
                </a:schemeClr>
              </a:solidFill>
              <a:ea typeface="Segoe UI" pitchFamily="34" charset="0"/>
              <a:cs typeface="Segoe UI" pitchFamily="34" charset="0"/>
            </a:endParaRPr>
          </a:p>
          <a:p>
            <a:pPr marL="342900" indent="-342900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  <a:ea typeface="Segoe UI" pitchFamily="34" charset="0"/>
                <a:cs typeface="Segoe UI" pitchFamily="34" charset="0"/>
              </a:rPr>
              <a:t>To use different text and title:</a:t>
            </a:r>
          </a:p>
          <a:p>
            <a:pPr marL="800100" lvl="1" indent="-342900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8300"/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[[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text 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here</a:t>
            </a:r>
            <a:r>
              <a:rPr lang="en-US" sz="2800" b="1" dirty="0" err="1">
                <a:solidFill>
                  <a:srgbClr val="FF8300"/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|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Passage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 Title</a:t>
            </a:r>
            <a:r>
              <a:rPr lang="en-US" sz="2800" b="1" dirty="0">
                <a:solidFill>
                  <a:srgbClr val="FF8300"/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]]</a:t>
            </a:r>
          </a:p>
        </p:txBody>
      </p:sp>
    </p:spTree>
    <p:extLst>
      <p:ext uri="{BB962C8B-B14F-4D97-AF65-F5344CB8AC3E}">
        <p14:creationId xmlns:p14="http://schemas.microsoft.com/office/powerpoint/2010/main" val="36053156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11430000" cy="2057400"/>
          </a:xfrm>
        </p:spPr>
        <p:txBody>
          <a:bodyPr>
            <a:normAutofit fontScale="92500"/>
          </a:bodyPr>
          <a:lstStyle/>
          <a:p>
            <a:pPr marL="57150" indent="0">
              <a:buNone/>
            </a:pPr>
            <a:r>
              <a:rPr lang="en-US" dirty="0"/>
              <a:t>Adding </a:t>
            </a:r>
            <a:r>
              <a:rPr lang="en-US" b="1" dirty="0"/>
              <a:t>images</a:t>
            </a:r>
            <a:r>
              <a:rPr lang="en-US" dirty="0"/>
              <a:t> is just like HTML!:</a:t>
            </a:r>
          </a:p>
          <a:p>
            <a:pPr marL="57150" indent="0">
              <a:buNone/>
            </a:pPr>
            <a:endParaRPr lang="en-US" sz="1400" dirty="0"/>
          </a:p>
          <a:p>
            <a:pPr marL="57150" indent="0" algn="ctr">
              <a:buNone/>
            </a:pPr>
            <a:r>
              <a:rPr lang="en-US" sz="4000" b="1" dirty="0">
                <a:solidFill>
                  <a:srgbClr val="FF8300"/>
                </a:solidFill>
                <a:latin typeface="Consolas" panose="020B0609020204030204" pitchFamily="49" charset="0"/>
              </a:rPr>
              <a:t>&lt;</a:t>
            </a:r>
            <a:r>
              <a:rPr lang="en-US" sz="4000" b="1" dirty="0" err="1">
                <a:solidFill>
                  <a:srgbClr val="FF8300"/>
                </a:solidFill>
                <a:latin typeface="Consolas" panose="020B0609020204030204" pitchFamily="49" charset="0"/>
              </a:rPr>
              <a:t>img</a:t>
            </a:r>
            <a:r>
              <a:rPr lang="en-US" sz="4000" b="1" dirty="0">
                <a:solidFill>
                  <a:srgbClr val="FF8300"/>
                </a:solidFill>
                <a:latin typeface="Consolas" panose="020B0609020204030204" pitchFamily="49" charset="0"/>
              </a:rPr>
              <a:t> </a:t>
            </a:r>
            <a:r>
              <a:rPr lang="en-US" sz="4000" b="1" dirty="0" err="1">
                <a:solidFill>
                  <a:srgbClr val="FF8300"/>
                </a:solidFill>
                <a:latin typeface="Consolas" panose="020B0609020204030204" pitchFamily="49" charset="0"/>
              </a:rPr>
              <a:t>src</a:t>
            </a:r>
            <a:r>
              <a:rPr lang="en-US" sz="4000" b="1" dirty="0">
                <a:solidFill>
                  <a:srgbClr val="FF8300"/>
                </a:solidFill>
                <a:latin typeface="Consolas" panose="020B0609020204030204" pitchFamily="49" charset="0"/>
              </a:rPr>
              <a:t>="</a:t>
            </a:r>
            <a:r>
              <a:rPr lang="en-US" sz="4000" dirty="0">
                <a:latin typeface="Consolas" panose="020B0609020204030204" pitchFamily="49" charset="0"/>
              </a:rPr>
              <a:t>https://i.imgur.com/2XBY58J.png</a:t>
            </a:r>
            <a:r>
              <a:rPr lang="en-US" sz="4000" b="1" dirty="0">
                <a:solidFill>
                  <a:srgbClr val="FF8300"/>
                </a:solidFill>
                <a:latin typeface="Consolas" panose="020B0609020204030204" pitchFamily="49" charset="0"/>
              </a:rPr>
              <a:t>"&gt;</a:t>
            </a:r>
          </a:p>
          <a:p>
            <a:endParaRPr lang="en-US" dirty="0"/>
          </a:p>
        </p:txBody>
      </p:sp>
      <p:pic>
        <p:nvPicPr>
          <p:cNvPr id="8194" name="Picture 2" descr="https://i.imgur.com/2XBY58J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3200400"/>
            <a:ext cx="5905500" cy="332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21312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twine stories published?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5046820"/>
            <a:ext cx="11430000" cy="1696880"/>
          </a:xfrm>
        </p:spPr>
        <p:txBody>
          <a:bodyPr>
            <a:normAutofit/>
          </a:bodyPr>
          <a:lstStyle/>
          <a:p>
            <a:r>
              <a:rPr lang="en-US" dirty="0"/>
              <a:t>Twine stories are published as </a:t>
            </a:r>
            <a:r>
              <a:rPr lang="en-US" i="1" dirty="0"/>
              <a:t>interactive websites</a:t>
            </a:r>
            <a:endParaRPr lang="en-US" dirty="0"/>
          </a:p>
          <a:p>
            <a:r>
              <a:rPr lang="en-US" dirty="0"/>
              <a:t>Players can click links go to different passages</a:t>
            </a:r>
          </a:p>
          <a:p>
            <a:r>
              <a:rPr lang="en-US" dirty="0"/>
              <a:t>Players can also save, restart, and go back and forth in the story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388" y="1175558"/>
            <a:ext cx="8945223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2357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Web Styles with CSS</a:t>
            </a:r>
          </a:p>
        </p:txBody>
      </p:sp>
      <p:pic>
        <p:nvPicPr>
          <p:cNvPr id="7172" name="Picture 4" descr="CARTOColors is a quick set of color schemes to copy | FlowingDat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-11205"/>
            <a:ext cx="11087100" cy="688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327160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CSS (</a:t>
            </a:r>
            <a:r>
              <a:rPr lang="en-US" sz="3600" b="1" dirty="0"/>
              <a:t>C</a:t>
            </a:r>
            <a:r>
              <a:rPr lang="en-US" sz="3600" dirty="0"/>
              <a:t>ascading </a:t>
            </a:r>
            <a:r>
              <a:rPr lang="en-US" sz="3600" b="1" dirty="0"/>
              <a:t>S</a:t>
            </a:r>
            <a:r>
              <a:rPr lang="en-US" sz="3600" dirty="0"/>
              <a:t>tyle</a:t>
            </a:r>
            <a:r>
              <a:rPr lang="en-US" sz="3600" b="1" dirty="0"/>
              <a:t>s</a:t>
            </a:r>
            <a:r>
              <a:rPr lang="en-US" sz="3600" dirty="0"/>
              <a:t>heets) is a language that allows developers to change </a:t>
            </a:r>
            <a:r>
              <a:rPr lang="en-US" sz="3600" i="1" dirty="0"/>
              <a:t>styles</a:t>
            </a:r>
            <a:r>
              <a:rPr lang="en-US" sz="3600" dirty="0"/>
              <a:t> on a webpage</a:t>
            </a:r>
          </a:p>
          <a:p>
            <a:endParaRPr lang="en-US" sz="3600" dirty="0"/>
          </a:p>
          <a:p>
            <a:r>
              <a:rPr lang="en-US" sz="3600" dirty="0"/>
              <a:t>CSS can change fonts, colors, backgrounds, positioning, even animations!</a:t>
            </a:r>
          </a:p>
          <a:p>
            <a:endParaRPr lang="en-US" sz="3600" dirty="0"/>
          </a:p>
          <a:p>
            <a:r>
              <a:rPr lang="en-US" sz="3600" dirty="0"/>
              <a:t>CSS does not change the actual </a:t>
            </a:r>
            <a:r>
              <a:rPr lang="en-US" sz="3600" b="1" dirty="0"/>
              <a:t>content</a:t>
            </a:r>
            <a:r>
              <a:rPr lang="en-US" sz="3600" dirty="0"/>
              <a:t> of the story – just the style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9695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Ruleset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57150" indent="0">
              <a:buNone/>
            </a:pPr>
            <a:r>
              <a:rPr lang="en-US" sz="5400" dirty="0" err="1">
                <a:solidFill>
                  <a:srgbClr val="800000"/>
                </a:solidFill>
                <a:latin typeface="Consolas" panose="020B0609020204030204" pitchFamily="49" charset="0"/>
              </a:rPr>
              <a:t>tw</a:t>
            </a:r>
            <a:r>
              <a:rPr lang="en-US" sz="5400" dirty="0">
                <a:solidFill>
                  <a:srgbClr val="800000"/>
                </a:solidFill>
                <a:latin typeface="Consolas" panose="020B0609020204030204" pitchFamily="49" charset="0"/>
              </a:rPr>
              <a:t>-story</a:t>
            </a:r>
            <a:r>
              <a:rPr lang="en-US" sz="5400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pPr marL="57150" indent="0">
              <a:buNone/>
            </a:pPr>
            <a:r>
              <a:rPr lang="en-US" sz="5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5400" dirty="0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sz="54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5400" dirty="0">
                <a:solidFill>
                  <a:srgbClr val="0451A5"/>
                </a:solidFill>
                <a:latin typeface="Consolas" panose="020B0609020204030204" pitchFamily="49" charset="0"/>
              </a:rPr>
              <a:t>pink</a:t>
            </a:r>
            <a:r>
              <a:rPr lang="en-US" sz="5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57150" indent="0">
              <a:buNone/>
            </a:pPr>
            <a:r>
              <a:rPr lang="en-US" sz="5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5400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US" sz="54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5400" dirty="0">
                <a:solidFill>
                  <a:srgbClr val="0451A5"/>
                </a:solidFill>
                <a:latin typeface="Consolas" panose="020B0609020204030204" pitchFamily="49" charset="0"/>
              </a:rPr>
              <a:t>blue</a:t>
            </a:r>
            <a:r>
              <a:rPr lang="en-US" sz="5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57150" indent="0">
              <a:buNone/>
            </a:pPr>
            <a:r>
              <a:rPr lang="en-US" sz="5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571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77051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Example – Chrome </a:t>
            </a:r>
            <a:r>
              <a:rPr lang="en-US" dirty="0" err="1"/>
              <a:t>DevTools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14350">
              <a:buFont typeface="+mj-lt"/>
              <a:buAutoNum type="arabicPeriod"/>
            </a:pPr>
            <a:endParaRPr lang="en-US" dirty="0"/>
          </a:p>
          <a:p>
            <a:pPr marL="571500" indent="-514350">
              <a:buFont typeface="+mj-lt"/>
              <a:buAutoNum type="arabicPeriod"/>
            </a:pPr>
            <a:r>
              <a:rPr lang="en-US" dirty="0"/>
              <a:t>Open Google Chrome</a:t>
            </a:r>
          </a:p>
          <a:p>
            <a:pPr marL="571500" indent="-514350">
              <a:buFont typeface="+mj-lt"/>
              <a:buAutoNum type="arabicPeriod"/>
            </a:pPr>
            <a:r>
              <a:rPr lang="en-US" dirty="0"/>
              <a:t>Go to </a:t>
            </a:r>
            <a:r>
              <a:rPr lang="en-US" dirty="0">
                <a:hlinkClick r:id="rId3"/>
              </a:rPr>
              <a:t>https://en.wikipedia.org/wiki/Choose_Your_Own_Adventure</a:t>
            </a:r>
            <a:endParaRPr lang="en-US" dirty="0"/>
          </a:p>
          <a:p>
            <a:pPr marL="571500" indent="-514350">
              <a:buFont typeface="+mj-lt"/>
              <a:buAutoNum type="arabicPeriod"/>
            </a:pPr>
            <a:r>
              <a:rPr lang="en-US" dirty="0"/>
              <a:t>Press </a:t>
            </a:r>
            <a:r>
              <a:rPr lang="en-US" sz="3200" b="1" dirty="0">
                <a:latin typeface="Consolas" panose="020B0609020204030204" pitchFamily="49" charset="0"/>
              </a:rPr>
              <a:t>F12</a:t>
            </a:r>
            <a:r>
              <a:rPr lang="en-US" dirty="0"/>
              <a:t> to open Chrome </a:t>
            </a:r>
            <a:r>
              <a:rPr lang="en-US" dirty="0" err="1"/>
              <a:t>DevTools</a:t>
            </a:r>
            <a:endParaRPr lang="en-US" dirty="0"/>
          </a:p>
          <a:p>
            <a:pPr marL="571500" indent="-514350">
              <a:buFont typeface="+mj-lt"/>
              <a:buAutoNum type="arabicPeriod"/>
            </a:pPr>
            <a:r>
              <a:rPr lang="en-US" dirty="0"/>
              <a:t>Find the “Styles” section, and click “+” to add a new </a:t>
            </a:r>
            <a:r>
              <a:rPr lang="en-US" i="1" dirty="0"/>
              <a:t>ruleset</a:t>
            </a:r>
          </a:p>
          <a:p>
            <a:pPr marL="571500" indent="-514350">
              <a:buFont typeface="+mj-lt"/>
              <a:buAutoNum type="arabicPeriod"/>
            </a:pPr>
            <a:r>
              <a:rPr lang="en-US" dirty="0"/>
              <a:t>Set the </a:t>
            </a:r>
            <a:r>
              <a:rPr lang="en-US" i="1" dirty="0"/>
              <a:t>selector</a:t>
            </a:r>
            <a:r>
              <a:rPr lang="en-US" dirty="0"/>
              <a:t> to </a:t>
            </a:r>
            <a:r>
              <a:rPr lang="en-US" sz="3200" b="1" dirty="0">
                <a:latin typeface="Consolas" panose="020B0609020204030204" pitchFamily="49" charset="0"/>
              </a:rPr>
              <a:t>body</a:t>
            </a:r>
            <a:r>
              <a:rPr lang="en-US" dirty="0"/>
              <a:t> to style everything on the page</a:t>
            </a:r>
          </a:p>
          <a:p>
            <a:pPr marL="571500" indent="-514350">
              <a:buFont typeface="+mj-lt"/>
              <a:buAutoNum type="arabicPeriod"/>
            </a:pPr>
            <a:r>
              <a:rPr lang="en-US" dirty="0"/>
              <a:t>Set the </a:t>
            </a:r>
            <a:r>
              <a:rPr lang="en-US" sz="3200" b="1" dirty="0">
                <a:latin typeface="Consolas" panose="020B0609020204030204" pitchFamily="49" charset="0"/>
              </a:rPr>
              <a:t>font-size</a:t>
            </a:r>
            <a:r>
              <a:rPr lang="en-US" dirty="0"/>
              <a:t> property to </a:t>
            </a:r>
            <a:r>
              <a:rPr lang="en-US" sz="3200" b="1" dirty="0">
                <a:latin typeface="Consolas" panose="020B0609020204030204" pitchFamily="49" charset="0"/>
              </a:rPr>
              <a:t>20px</a:t>
            </a:r>
            <a:endParaRPr lang="en-US" dirty="0">
              <a:latin typeface="Consolas" panose="020B0609020204030204" pitchFamily="49" charset="0"/>
            </a:endParaRPr>
          </a:p>
          <a:p>
            <a:pPr marL="571500" indent="-514350">
              <a:buFont typeface="+mj-lt"/>
              <a:buAutoNum type="arabicPeriod"/>
            </a:pPr>
            <a:r>
              <a:rPr lang="en-US" dirty="0"/>
              <a:t>Set the </a:t>
            </a:r>
            <a:r>
              <a:rPr lang="en-US" sz="3200" b="1" dirty="0">
                <a:latin typeface="Consolas" panose="020B0609020204030204" pitchFamily="49" charset="0"/>
              </a:rPr>
              <a:t>font-family</a:t>
            </a:r>
            <a:r>
              <a:rPr lang="en-US" dirty="0"/>
              <a:t> property to </a:t>
            </a:r>
            <a:r>
              <a:rPr lang="en-US" sz="3200" b="1" dirty="0">
                <a:latin typeface="Consolas" panose="020B0609020204030204" pitchFamily="49" charset="0"/>
              </a:rPr>
              <a:t>cursive</a:t>
            </a:r>
            <a:endParaRPr lang="en-US" dirty="0">
              <a:latin typeface="Consolas" panose="020B0609020204030204" pitchFamily="49" charset="0"/>
            </a:endParaRPr>
          </a:p>
          <a:p>
            <a:pPr marL="57150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56548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96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Variables</a:t>
            </a:r>
          </a:p>
        </p:txBody>
      </p:sp>
      <p:pic>
        <p:nvPicPr>
          <p:cNvPr id="9218" name="Picture 2" descr="Mockup: Favorite Skills Tab : Sims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936" y="1143000"/>
            <a:ext cx="6979920" cy="4841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5323347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11430000" cy="1828800"/>
          </a:xfrm>
        </p:spPr>
        <p:txBody>
          <a:bodyPr>
            <a:normAutofit/>
          </a:bodyPr>
          <a:lstStyle/>
          <a:p>
            <a:r>
              <a:rPr lang="en-US" dirty="0"/>
              <a:t>In computer science, </a:t>
            </a:r>
            <a:r>
              <a:rPr lang="en-US" b="1" dirty="0"/>
              <a:t>variables</a:t>
            </a:r>
            <a:r>
              <a:rPr lang="en-US" dirty="0"/>
              <a:t> are containers for data</a:t>
            </a:r>
          </a:p>
          <a:p>
            <a:r>
              <a:rPr lang="en-US" dirty="0"/>
              <a:t>The data can </a:t>
            </a:r>
            <a:r>
              <a:rPr lang="en-US" i="1" dirty="0"/>
              <a:t>change</a:t>
            </a:r>
            <a:r>
              <a:rPr lang="en-US" dirty="0"/>
              <a:t> depending on what happens in a program</a:t>
            </a:r>
          </a:p>
          <a:p>
            <a:pPr marL="57150" indent="0" algn="ctr">
              <a:buNone/>
            </a:pPr>
            <a:r>
              <a:rPr lang="en-US" sz="3600" b="1" dirty="0"/>
              <a:t>Example</a:t>
            </a:r>
            <a:endParaRPr lang="en-US" b="1" dirty="0"/>
          </a:p>
        </p:txBody>
      </p:sp>
      <p:pic>
        <p:nvPicPr>
          <p:cNvPr id="10244" name="Picture 4" descr="Guitar | Skills - The Sims 4 Game Guide | gamepressure.com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0" r="36250"/>
          <a:stretch/>
        </p:blipFill>
        <p:spPr bwMode="auto">
          <a:xfrm>
            <a:off x="5067300" y="2959768"/>
            <a:ext cx="205740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 bwMode="auto">
          <a:xfrm>
            <a:off x="495301" y="3200400"/>
            <a:ext cx="3657600" cy="26289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$</a:t>
            </a:r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guitar_skill_level</a:t>
            </a:r>
            <a:endParaRPr lang="en-US" sz="2400" b="1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ea typeface="Segoe UI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1" dirty="0">
              <a:solidFill>
                <a:schemeClr val="accent2">
                  <a:lumMod val="50000"/>
                </a:schemeClr>
              </a:solidFill>
              <a:ea typeface="Segoe UI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600" b="1" dirty="0">
                <a:solidFill>
                  <a:schemeClr val="accent2">
                    <a:lumMod val="50000"/>
                  </a:schemeClr>
                </a:solidFill>
                <a:ea typeface="Segoe UI" pitchFamily="34" charset="0"/>
                <a:cs typeface="Segoe UI" pitchFamily="34" charset="0"/>
              </a:rPr>
              <a:t>4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381500" y="4464718"/>
            <a:ext cx="457200" cy="0"/>
          </a:xfrm>
          <a:prstGeom prst="straightConnector1">
            <a:avLst/>
          </a:prstGeom>
          <a:ln w="66675">
            <a:solidFill>
              <a:schemeClr val="accent2">
                <a:lumMod val="50000"/>
              </a:schemeClr>
            </a:solidFill>
            <a:miter lim="800000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12612" y="6234147"/>
            <a:ext cx="1566776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Practice!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7353300" y="4464718"/>
            <a:ext cx="457200" cy="0"/>
          </a:xfrm>
          <a:prstGeom prst="straightConnector1">
            <a:avLst/>
          </a:prstGeom>
          <a:ln w="66675">
            <a:solidFill>
              <a:schemeClr val="accent2">
                <a:lumMod val="50000"/>
              </a:schemeClr>
            </a:solidFill>
            <a:miter lim="800000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 bwMode="auto">
          <a:xfrm>
            <a:off x="8039100" y="3200400"/>
            <a:ext cx="3657600" cy="26289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6ABF4B">
                    <a:lumMod val="50000"/>
                  </a:srgbClr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$</a:t>
            </a:r>
            <a:r>
              <a:rPr lang="en-US" sz="2400" b="1" dirty="0" err="1">
                <a:solidFill>
                  <a:srgbClr val="6ABF4B">
                    <a:lumMod val="50000"/>
                  </a:srgbClr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guitar_skill_level</a:t>
            </a:r>
            <a:endParaRPr lang="en-US" sz="2800" b="1" dirty="0">
              <a:solidFill>
                <a:schemeClr val="accent2">
                  <a:lumMod val="50000"/>
                </a:schemeClr>
              </a:solidFill>
              <a:ea typeface="Segoe UI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1" dirty="0">
              <a:solidFill>
                <a:schemeClr val="accent2">
                  <a:lumMod val="50000"/>
                </a:schemeClr>
              </a:solidFill>
              <a:ea typeface="Segoe UI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600" b="1" dirty="0">
                <a:solidFill>
                  <a:schemeClr val="accent2">
                    <a:lumMod val="50000"/>
                  </a:schemeClr>
                </a:solidFill>
                <a:ea typeface="Segoe UI" pitchFamily="34" charset="0"/>
                <a:cs typeface="Segoe UI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779961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9" grpId="0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in Twine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11430000" cy="2743200"/>
          </a:xfrm>
        </p:spPr>
        <p:txBody>
          <a:bodyPr>
            <a:normAutofit/>
          </a:bodyPr>
          <a:lstStyle/>
          <a:p>
            <a:r>
              <a:rPr lang="en-US" dirty="0"/>
              <a:t>Variables can be used in Twine to keep track of story information</a:t>
            </a:r>
          </a:p>
          <a:p>
            <a:r>
              <a:rPr lang="en-US" dirty="0"/>
              <a:t>Variables can store lots of different types of data, like numbers, text, lists, true/false values, and more!</a:t>
            </a:r>
          </a:p>
          <a:p>
            <a:r>
              <a:rPr lang="en-US" dirty="0"/>
              <a:t>For example, the main character’s </a:t>
            </a:r>
            <a:r>
              <a:rPr lang="en-US" b="1" dirty="0"/>
              <a:t>health</a:t>
            </a:r>
            <a:r>
              <a:rPr lang="en-US" dirty="0"/>
              <a:t> might change based on what the player decides to do in the story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609600" y="4229100"/>
            <a:ext cx="5259805" cy="1828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2">
                <a:lumMod val="50000"/>
              </a:schemeClr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ea typeface="Segoe UI" pitchFamily="34" charset="0"/>
                <a:cs typeface="Segoe UI" pitchFamily="34" charset="0"/>
              </a:rPr>
              <a:t>Setting a Variable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chemeClr val="accent2">
                  <a:lumMod val="50000"/>
                </a:schemeClr>
              </a:solidFill>
              <a:ea typeface="Segoe UI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(set: </a:t>
            </a:r>
            <a:r>
              <a:rPr lang="en-US" sz="2800" dirty="0">
                <a:solidFill>
                  <a:srgbClr val="FF8300"/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$health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 to </a:t>
            </a:r>
            <a:r>
              <a:rPr lang="en-US" sz="2800" dirty="0">
                <a:solidFill>
                  <a:srgbClr val="FF8300"/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4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6438900" y="4229100"/>
            <a:ext cx="5029200" cy="1828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2">
                <a:lumMod val="50000"/>
              </a:schemeClr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ea typeface="Segoe UI" pitchFamily="34" charset="0"/>
                <a:cs typeface="Segoe UI" pitchFamily="34" charset="0"/>
              </a:rPr>
              <a:t>Using a Variable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chemeClr val="accent2">
                  <a:lumMod val="50000"/>
                </a:schemeClr>
              </a:solidFill>
              <a:ea typeface="Segoe UI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Your health is </a:t>
            </a:r>
            <a:r>
              <a:rPr lang="en-US" sz="2800" dirty="0">
                <a:solidFill>
                  <a:srgbClr val="FF8300"/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$health</a:t>
            </a:r>
            <a:endParaRPr lang="en-US" sz="2800" b="1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6639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6B6646-2762-0DF8-149B-E7DB2CD3C0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05595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Hyland 2019">
  <a:themeElements>
    <a:clrScheme name="Hyland">
      <a:dk1>
        <a:srgbClr val="56565A"/>
      </a:dk1>
      <a:lt1>
        <a:srgbClr val="FFFFFF"/>
      </a:lt1>
      <a:dk2>
        <a:srgbClr val="56565A"/>
      </a:dk2>
      <a:lt2>
        <a:srgbClr val="EFEFF0"/>
      </a:lt2>
      <a:accent1>
        <a:srgbClr val="54C8E8"/>
      </a:accent1>
      <a:accent2>
        <a:srgbClr val="6ABF4B"/>
      </a:accent2>
      <a:accent3>
        <a:srgbClr val="98989A"/>
      </a:accent3>
      <a:accent4>
        <a:srgbClr val="C8C8C8"/>
      </a:accent4>
      <a:accent5>
        <a:srgbClr val="EFEFF0"/>
      </a:accent5>
      <a:accent6>
        <a:srgbClr val="FFFFFF"/>
      </a:accent6>
      <a:hlink>
        <a:srgbClr val="6ABF4B"/>
      </a:hlink>
      <a:folHlink>
        <a:srgbClr val="6ABF4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yland">
      <a:fillStyleLst>
        <a:solidFill>
          <a:schemeClr val="phClr"/>
        </a:solidFill>
        <a:solidFill>
          <a:schemeClr val="phClr">
            <a:satMod val="180000"/>
            <a:tint val="40000"/>
          </a:schemeClr>
        </a:solidFill>
        <a:solidFill>
          <a:schemeClr val="phClr">
            <a:shade val="40000"/>
          </a:schemeClr>
        </a:solidFill>
      </a:fillStyleLst>
      <a:lnStyleLst>
        <a:ln>
          <a:solidFill>
            <a:schemeClr val="phClr"/>
          </a:solidFill>
          <a:headEnd type="none" w="med" len="med"/>
          <a:tailEnd type="none" w="med" len="med"/>
        </a:ln>
        <a:ln w="12700" cap="flat" cmpd="sng" algn="ctr">
          <a:solidFill>
            <a:schemeClr val="phClr"/>
          </a:solidFill>
          <a:prstDash val="solid"/>
          <a:miter lim="800000"/>
        </a:ln>
        <a:ln>
          <a:solidFill>
            <a:schemeClr val="phClr"/>
          </a:solidFill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 bwMode="auto">
        <a:solidFill>
          <a:schemeClr val="accent5"/>
        </a:solidFill>
        <a:ln w="12700">
          <a:solidFill>
            <a:schemeClr val="tx2"/>
          </a:solidFill>
          <a:miter lim="800000"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 w="12700">
          <a:miter lim="800000"/>
          <a:headEnd type="none"/>
          <a:tailEnd type="non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custClrLst>
    <a:custClr name="Hyland Green">
      <a:srgbClr val="6ABF4B"/>
    </a:custClr>
    <a:custClr name="Technology Blue">
      <a:srgbClr val="00586F"/>
    </a:custClr>
    <a:custClr name="Bright Blue">
      <a:srgbClr val="54C8E8"/>
    </a:custClr>
    <a:custClr name="Light Blue">
      <a:srgbClr val="96DAEA"/>
    </a:custClr>
    <a:custClr name="Pink">
      <a:srgbClr val="E95EBE"/>
    </a:custClr>
    <a:custClr name="Dark Gray">
      <a:srgbClr val="56565A"/>
    </a:custClr>
    <a:custClr name="Medium Gray">
      <a:srgbClr val="98989A"/>
    </a:custClr>
    <a:custClr name="Light Gray">
      <a:srgbClr val="C8C8C8"/>
    </a:custClr>
    <a:custClr name="Pale Gray">
      <a:srgbClr val="EFEFF0"/>
    </a:custClr>
    <a:custClr name="White">
      <a:srgbClr val="FFFFFF"/>
    </a:custClr>
    <a:custClr name="Orange">
      <a:srgbClr val="FF8300"/>
    </a:custClr>
    <a:custClr name="Purple">
      <a:srgbClr val="624B78"/>
    </a:custClr>
    <a:custClr name="Yellow">
      <a:srgbClr val="FFB71B"/>
    </a:custClr>
    <a:custClr name="Dark Blue">
      <a:srgbClr val="00303C"/>
    </a:custClr>
  </a:custClr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4719</TotalTime>
  <Words>1415</Words>
  <Application>Microsoft Office PowerPoint</Application>
  <PresentationFormat>Widescreen</PresentationFormat>
  <Paragraphs>173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Black</vt:lpstr>
      <vt:lpstr>Calibri</vt:lpstr>
      <vt:lpstr>Consolas</vt:lpstr>
      <vt:lpstr>Segoe UI</vt:lpstr>
      <vt:lpstr>Wingdings</vt:lpstr>
      <vt:lpstr>Hyland 2019</vt:lpstr>
      <vt:lpstr>Interactive Storytelling</vt:lpstr>
      <vt:lpstr>PowerPoint Presentation</vt:lpstr>
      <vt:lpstr>Gamebooks</vt:lpstr>
      <vt:lpstr>Interactive fiction</vt:lpstr>
      <vt:lpstr>Interactive Fiction Example</vt:lpstr>
      <vt:lpstr>SO how can someone make an interactive fiction game?</vt:lpstr>
      <vt:lpstr>Twine</vt:lpstr>
      <vt:lpstr>PowerPoint Presentation</vt:lpstr>
      <vt:lpstr>Passages and Links</vt:lpstr>
      <vt:lpstr>Images</vt:lpstr>
      <vt:lpstr>How are twine stories published?</vt:lpstr>
      <vt:lpstr>Web Styles with CSS</vt:lpstr>
      <vt:lpstr>What is CSS?</vt:lpstr>
      <vt:lpstr>CSS Ruleset Example</vt:lpstr>
      <vt:lpstr>CSS Example – Chrome DevTools</vt:lpstr>
      <vt:lpstr>Variables</vt:lpstr>
      <vt:lpstr>Variables</vt:lpstr>
      <vt:lpstr>Variables in Twine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Trent Turner</dc:creator>
  <cp:lastModifiedBy>Joseph Maxwell</cp:lastModifiedBy>
  <cp:revision>217</cp:revision>
  <dcterms:created xsi:type="dcterms:W3CDTF">2019-03-11T04:04:09Z</dcterms:created>
  <dcterms:modified xsi:type="dcterms:W3CDTF">2025-10-21T15:43:58Z</dcterms:modified>
</cp:coreProperties>
</file>